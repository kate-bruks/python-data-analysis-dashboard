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6858000" cy="9144000"/>
  <p:embeddedFontLst>
    <p:embeddedFont>
      <p:font typeface="Montserrat SemiBold"/>
      <p:regular r:id="rId28"/>
      <p:bold r:id="rId29"/>
      <p:italic r:id="rId30"/>
      <p:boldItalic r:id="rId31"/>
    </p:embeddedFont>
    <p:embeddedFont>
      <p:font typeface="Roboto"/>
      <p:regular r:id="rId32"/>
      <p:bold r:id="rId33"/>
      <p:italic r:id="rId34"/>
      <p:boldItalic r:id="rId35"/>
    </p:embeddedFont>
    <p:embeddedFont>
      <p:font typeface="Montserrat"/>
      <p:regular r:id="rId36"/>
      <p:bold r:id="rId37"/>
      <p:italic r:id="rId38"/>
      <p:boldItalic r:id="rId39"/>
    </p:embeddedFont>
    <p:embeddedFont>
      <p:font typeface="Fira Sans Extra Condensed Medium"/>
      <p:regular r:id="rId40"/>
      <p:bold r:id="rId41"/>
      <p:italic r:id="rId42"/>
      <p:boldItalic r:id="rId43"/>
    </p:embeddedFont>
    <p:embeddedFont>
      <p:font typeface="Montserrat Medium"/>
      <p:regular r:id="rId44"/>
      <p:bold r:id="rId45"/>
      <p:italic r:id="rId46"/>
      <p:boldItalic r:id="rId47"/>
    </p:embeddedFont>
    <p:embeddedFont>
      <p:font typeface="Squada One"/>
      <p:regular r:id="rId48"/>
    </p:embeddedFont>
    <p:embeddedFont>
      <p:font typeface="Roboto Condensed Light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ExtraCondensedMedium-regular.fntdata"/><Relationship Id="rId42" Type="http://schemas.openxmlformats.org/officeDocument/2006/relationships/font" Target="fonts/FiraSansExtraCondensedMedium-italic.fntdata"/><Relationship Id="rId41" Type="http://schemas.openxmlformats.org/officeDocument/2006/relationships/font" Target="fonts/FiraSansExtraCondensedMedium-bold.fntdata"/><Relationship Id="rId44" Type="http://schemas.openxmlformats.org/officeDocument/2006/relationships/font" Target="fonts/MontserratMedium-regular.fntdata"/><Relationship Id="rId43" Type="http://schemas.openxmlformats.org/officeDocument/2006/relationships/font" Target="fonts/FiraSansExtraCondensedMedium-boldItalic.fntdata"/><Relationship Id="rId46" Type="http://schemas.openxmlformats.org/officeDocument/2006/relationships/font" Target="fonts/MontserratMedium-italic.fntdata"/><Relationship Id="rId45" Type="http://schemas.openxmlformats.org/officeDocument/2006/relationships/font" Target="fonts/MontserratMedium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SquadaOne-regular.fntdata"/><Relationship Id="rId47" Type="http://schemas.openxmlformats.org/officeDocument/2006/relationships/font" Target="fonts/MontserratMedium-boldItalic.fntdata"/><Relationship Id="rId49" Type="http://schemas.openxmlformats.org/officeDocument/2006/relationships/font" Target="fonts/RobotoCondensedLigh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ontserratSemiBold-boldItalic.fntdata"/><Relationship Id="rId30" Type="http://schemas.openxmlformats.org/officeDocument/2006/relationships/font" Target="fonts/MontserratSemiBold-italic.fntdata"/><Relationship Id="rId33" Type="http://schemas.openxmlformats.org/officeDocument/2006/relationships/font" Target="fonts/Roboto-bold.fntdata"/><Relationship Id="rId32" Type="http://schemas.openxmlformats.org/officeDocument/2006/relationships/font" Target="fonts/Roboto-regular.fntdata"/><Relationship Id="rId35" Type="http://schemas.openxmlformats.org/officeDocument/2006/relationships/font" Target="fonts/Roboto-boldItalic.fntdata"/><Relationship Id="rId34" Type="http://schemas.openxmlformats.org/officeDocument/2006/relationships/font" Target="fonts/Roboto-italic.fntdata"/><Relationship Id="rId37" Type="http://schemas.openxmlformats.org/officeDocument/2006/relationships/font" Target="fonts/Montserrat-bold.fntdata"/><Relationship Id="rId36" Type="http://schemas.openxmlformats.org/officeDocument/2006/relationships/font" Target="fonts/Montserrat-regular.fntdata"/><Relationship Id="rId39" Type="http://schemas.openxmlformats.org/officeDocument/2006/relationships/font" Target="fonts/Montserrat-boldItalic.fntdata"/><Relationship Id="rId38" Type="http://schemas.openxmlformats.org/officeDocument/2006/relationships/font" Target="fonts/Montserrat-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MontserratSemiBold-regular.fntdata"/><Relationship Id="rId27" Type="http://schemas.openxmlformats.org/officeDocument/2006/relationships/slide" Target="slides/slide23.xml"/><Relationship Id="rId29" Type="http://schemas.openxmlformats.org/officeDocument/2006/relationships/font" Target="fonts/MontserratSemiBold-bold.fntdata"/><Relationship Id="rId51" Type="http://schemas.openxmlformats.org/officeDocument/2006/relationships/font" Target="fonts/RobotoCondensedLight-italic.fntdata"/><Relationship Id="rId50" Type="http://schemas.openxmlformats.org/officeDocument/2006/relationships/font" Target="fonts/RobotoCondensedLight-bold.fntdata"/><Relationship Id="rId52" Type="http://schemas.openxmlformats.org/officeDocument/2006/relationships/font" Target="fonts/RobotoCondensedLigh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a39e4857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a39e4857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555f6d730f1d2774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555f6d730f1d2774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9d319948b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9d319948b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a39e48574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a39e48574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39e48574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39e48574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d3af9566c0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d3af9566c0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d3af9566c0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d3af9566c0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a39e48574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a39e48574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a39e48574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a39e48574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d3af9566c0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d3af9566c0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d3af9566c0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d3af9566c0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d3af9566c0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d3af9566c0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d3af9566c0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d3af9566c0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d3af9566c0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3d3af9566c0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d3af9566c0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d3af9566c0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d3af9566c0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d3af9566c0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d3af9566c0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3d3af9566c0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d3af9566c0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d3af9566c0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d3af9566c0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3d3af9566c0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d3af9566c0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3d3af9566c0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d3af9566c0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3d3af9566c0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d3af9566c0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d3af9566c0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freepik.es/foto-gratis/macho-angulo-casco-realidad-virtual_7133530.htm" TargetMode="External"/><Relationship Id="rId3" Type="http://schemas.openxmlformats.org/officeDocument/2006/relationships/image" Target="../media/image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362773" y="4545927"/>
            <a:ext cx="6585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&lt;#&gt;/24</a:t>
            </a:r>
            <a:endParaRPr/>
          </a:p>
        </p:txBody>
      </p:sp>
      <p:sp>
        <p:nvSpPr>
          <p:cNvPr id="11" name="Google Shape;11;p2"/>
          <p:cNvSpPr txBox="1"/>
          <p:nvPr/>
        </p:nvSpPr>
        <p:spPr>
          <a:xfrm flipH="1">
            <a:off x="1375550" y="3092475"/>
            <a:ext cx="63930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" y="-399756"/>
            <a:ext cx="9144000" cy="4369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title"/>
          </p:nvPr>
        </p:nvSpPr>
        <p:spPr>
          <a:xfrm>
            <a:off x="457200" y="2932650"/>
            <a:ext cx="8229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457275" y="3192525"/>
            <a:ext cx="8229600" cy="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type="ctrTitle"/>
          </p:nvPr>
        </p:nvSpPr>
        <p:spPr>
          <a:xfrm>
            <a:off x="4297175" y="2355550"/>
            <a:ext cx="4299000" cy="6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hasCustomPrompt="1" idx="2" type="title"/>
          </p:nvPr>
        </p:nvSpPr>
        <p:spPr>
          <a:xfrm>
            <a:off x="4297175" y="1317160"/>
            <a:ext cx="4299000" cy="10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297175" y="2900355"/>
            <a:ext cx="42990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20" name="Google Shape;2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176" y="-501681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10" y="2213744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80849" y="-92389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251655" y="398810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/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1255350" y="1454625"/>
            <a:ext cx="6633300" cy="32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AutoNum type="arabicPeriod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2336850" y="2792565"/>
            <a:ext cx="2085600" cy="11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" name="Google Shape;31;p5"/>
          <p:cNvSpPr txBox="1"/>
          <p:nvPr>
            <p:ph idx="2" type="subTitle"/>
          </p:nvPr>
        </p:nvSpPr>
        <p:spPr>
          <a:xfrm>
            <a:off x="4721650" y="2781757"/>
            <a:ext cx="2085600" cy="11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" name="Google Shape;32;p5"/>
          <p:cNvSpPr txBox="1"/>
          <p:nvPr>
            <p:ph type="ctrTitle"/>
          </p:nvPr>
        </p:nvSpPr>
        <p:spPr>
          <a:xfrm flipH="1">
            <a:off x="4721600" y="462755"/>
            <a:ext cx="3673200" cy="13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5"/>
          <p:cNvSpPr txBox="1"/>
          <p:nvPr>
            <p:ph idx="3" type="ctrTitle"/>
          </p:nvPr>
        </p:nvSpPr>
        <p:spPr>
          <a:xfrm>
            <a:off x="2229313" y="2629926"/>
            <a:ext cx="2300700" cy="26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5"/>
          <p:cNvSpPr txBox="1"/>
          <p:nvPr>
            <p:ph idx="4" type="ctrTitle"/>
          </p:nvPr>
        </p:nvSpPr>
        <p:spPr>
          <a:xfrm>
            <a:off x="4572000" y="2629926"/>
            <a:ext cx="2384700" cy="26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 rot="5400000">
            <a:off x="2050488" y="1999184"/>
            <a:ext cx="2658200" cy="2384800"/>
          </a:xfrm>
          <a:prstGeom prst="flowChartPreparation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 rot="5400000">
            <a:off x="4435288" y="1999174"/>
            <a:ext cx="2658200" cy="238480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06760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/>
          <p:nvPr>
            <p:ph type="ctrTitle"/>
          </p:nvPr>
        </p:nvSpPr>
        <p:spPr>
          <a:xfrm flipH="1">
            <a:off x="355600" y="2236500"/>
            <a:ext cx="3956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4825200" y="1728900"/>
            <a:ext cx="2490300" cy="16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cxnSp>
        <p:nvCxnSpPr>
          <p:cNvPr id="48" name="Google Shape;48;p7"/>
          <p:cNvCxnSpPr/>
          <p:nvPr/>
        </p:nvCxnSpPr>
        <p:spPr>
          <a:xfrm>
            <a:off x="4572000" y="1228200"/>
            <a:ext cx="0" cy="2687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8"/>
          <p:cNvSpPr txBox="1"/>
          <p:nvPr>
            <p:ph idx="1" type="subTitle"/>
          </p:nvPr>
        </p:nvSpPr>
        <p:spPr>
          <a:xfrm>
            <a:off x="5427750" y="1819787"/>
            <a:ext cx="28575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2" name="Google Shape;52;p8"/>
          <p:cNvSpPr txBox="1"/>
          <p:nvPr>
            <p:ph type="ctrTitle"/>
          </p:nvPr>
        </p:nvSpPr>
        <p:spPr>
          <a:xfrm flipH="1">
            <a:off x="5427750" y="981587"/>
            <a:ext cx="28575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53" name="Google Shape;53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751762" y="3062175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718562" y="-1160625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idx="1" type="subTitle"/>
          </p:nvPr>
        </p:nvSpPr>
        <p:spPr>
          <a:xfrm>
            <a:off x="2101725" y="3712858"/>
            <a:ext cx="21750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2" type="subTitle"/>
          </p:nvPr>
        </p:nvSpPr>
        <p:spPr>
          <a:xfrm>
            <a:off x="4789400" y="3715662"/>
            <a:ext cx="21750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3" type="subTitle"/>
          </p:nvPr>
        </p:nvSpPr>
        <p:spPr>
          <a:xfrm>
            <a:off x="2101725" y="3396845"/>
            <a:ext cx="21750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4" type="subTitle"/>
          </p:nvPr>
        </p:nvSpPr>
        <p:spPr>
          <a:xfrm>
            <a:off x="4789400" y="3395392"/>
            <a:ext cx="21570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pic>
        <p:nvPicPr>
          <p:cNvPr id="60" name="Google Shape;6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325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/>
          <p:nvPr>
            <p:ph type="ctrTitle"/>
          </p:nvPr>
        </p:nvSpPr>
        <p:spPr>
          <a:xfrm flipH="1">
            <a:off x="457200" y="445025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ctrTitle"/>
          </p:nvPr>
        </p:nvSpPr>
        <p:spPr>
          <a:xfrm flipH="1">
            <a:off x="1187500" y="445025"/>
            <a:ext cx="6784500" cy="17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751762" y="3062175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718562" y="-1160625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1"/>
          <p:cNvSpPr txBox="1"/>
          <p:nvPr>
            <p:ph hasCustomPrompt="1" type="title"/>
          </p:nvPr>
        </p:nvSpPr>
        <p:spPr>
          <a:xfrm>
            <a:off x="539999" y="1400065"/>
            <a:ext cx="8064000" cy="17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0"/>
              <a:buNone/>
              <a:defRPr sz="1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/>
          <p:nvPr>
            <p:ph idx="1" type="subTitle"/>
          </p:nvPr>
        </p:nvSpPr>
        <p:spPr>
          <a:xfrm>
            <a:off x="537375" y="3235240"/>
            <a:ext cx="8066700" cy="3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45663" y="-346987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3414791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04897" y="-695083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45663" y="3773854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6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ctrTitle"/>
          </p:nvPr>
        </p:nvSpPr>
        <p:spPr>
          <a:xfrm>
            <a:off x="1690457" y="2052406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3" name="Google Shape;83;p13"/>
          <p:cNvSpPr txBox="1"/>
          <p:nvPr>
            <p:ph idx="1" type="subTitle"/>
          </p:nvPr>
        </p:nvSpPr>
        <p:spPr>
          <a:xfrm>
            <a:off x="2051807" y="2538657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13"/>
          <p:cNvSpPr txBox="1"/>
          <p:nvPr>
            <p:ph idx="2" type="ctrTitle"/>
          </p:nvPr>
        </p:nvSpPr>
        <p:spPr>
          <a:xfrm>
            <a:off x="1690457" y="3599531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" name="Google Shape;85;p13"/>
          <p:cNvSpPr txBox="1"/>
          <p:nvPr>
            <p:ph idx="3" type="subTitle"/>
          </p:nvPr>
        </p:nvSpPr>
        <p:spPr>
          <a:xfrm>
            <a:off x="2051807" y="4048600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6" name="Google Shape;86;p13"/>
          <p:cNvSpPr txBox="1"/>
          <p:nvPr>
            <p:ph idx="4" type="ctrTitle"/>
          </p:nvPr>
        </p:nvSpPr>
        <p:spPr>
          <a:xfrm>
            <a:off x="4824357" y="2052406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" name="Google Shape;87;p13"/>
          <p:cNvSpPr txBox="1"/>
          <p:nvPr>
            <p:ph idx="5" type="subTitle"/>
          </p:nvPr>
        </p:nvSpPr>
        <p:spPr>
          <a:xfrm>
            <a:off x="5185707" y="2538657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13"/>
          <p:cNvSpPr txBox="1"/>
          <p:nvPr>
            <p:ph idx="6" type="ctrTitle"/>
          </p:nvPr>
        </p:nvSpPr>
        <p:spPr>
          <a:xfrm>
            <a:off x="4824357" y="3599531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9" name="Google Shape;89;p13"/>
          <p:cNvSpPr txBox="1"/>
          <p:nvPr>
            <p:ph idx="7" type="subTitle"/>
          </p:nvPr>
        </p:nvSpPr>
        <p:spPr>
          <a:xfrm>
            <a:off x="5185707" y="4048600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3"/>
          <p:cNvSpPr txBox="1"/>
          <p:nvPr>
            <p:ph idx="8" type="ctrTitle"/>
          </p:nvPr>
        </p:nvSpPr>
        <p:spPr>
          <a:xfrm>
            <a:off x="1122278" y="401450"/>
            <a:ext cx="68994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1" name="Google Shape;91;p13"/>
          <p:cNvSpPr txBox="1"/>
          <p:nvPr>
            <p:ph hasCustomPrompt="1" idx="9" type="title"/>
          </p:nvPr>
        </p:nvSpPr>
        <p:spPr>
          <a:xfrm>
            <a:off x="2128157" y="1555631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/>
          <p:nvPr>
            <p:ph hasCustomPrompt="1" idx="13" type="title"/>
          </p:nvPr>
        </p:nvSpPr>
        <p:spPr>
          <a:xfrm>
            <a:off x="2128157" y="3074022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/>
          <p:nvPr>
            <p:ph hasCustomPrompt="1" idx="14" type="title"/>
          </p:nvPr>
        </p:nvSpPr>
        <p:spPr>
          <a:xfrm>
            <a:off x="5262057" y="1555631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/>
          <p:nvPr>
            <p:ph hasCustomPrompt="1" idx="15" type="title"/>
          </p:nvPr>
        </p:nvSpPr>
        <p:spPr>
          <a:xfrm>
            <a:off x="5262057" y="3074022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2">
  <p:cSld name="CUSTOM_36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657228" y="1778585"/>
            <a:ext cx="1959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657228" y="2252441"/>
            <a:ext cx="19593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9" name="Google Shape;99;p14"/>
          <p:cNvSpPr txBox="1"/>
          <p:nvPr>
            <p:ph idx="2" type="ctrTitle"/>
          </p:nvPr>
        </p:nvSpPr>
        <p:spPr>
          <a:xfrm>
            <a:off x="693636" y="3580934"/>
            <a:ext cx="1906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" name="Google Shape;100;p14"/>
          <p:cNvSpPr txBox="1"/>
          <p:nvPr>
            <p:ph idx="3" type="subTitle"/>
          </p:nvPr>
        </p:nvSpPr>
        <p:spPr>
          <a:xfrm>
            <a:off x="693636" y="4036206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1" name="Google Shape;101;p14"/>
          <p:cNvSpPr txBox="1"/>
          <p:nvPr>
            <p:ph idx="4" type="ctrTitle"/>
          </p:nvPr>
        </p:nvSpPr>
        <p:spPr>
          <a:xfrm>
            <a:off x="3207532" y="1784778"/>
            <a:ext cx="1799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" name="Google Shape;102;p14"/>
          <p:cNvSpPr txBox="1"/>
          <p:nvPr>
            <p:ph idx="5" type="subTitle"/>
          </p:nvPr>
        </p:nvSpPr>
        <p:spPr>
          <a:xfrm>
            <a:off x="3188332" y="2252437"/>
            <a:ext cx="18381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3" name="Google Shape;103;p14"/>
          <p:cNvSpPr txBox="1"/>
          <p:nvPr>
            <p:ph idx="6" type="ctrTitle"/>
          </p:nvPr>
        </p:nvSpPr>
        <p:spPr>
          <a:xfrm>
            <a:off x="3233530" y="3580934"/>
            <a:ext cx="1753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" name="Google Shape;104;p14"/>
          <p:cNvSpPr txBox="1"/>
          <p:nvPr>
            <p:ph idx="7" type="subTitle"/>
          </p:nvPr>
        </p:nvSpPr>
        <p:spPr>
          <a:xfrm>
            <a:off x="3157180" y="4036206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5" name="Google Shape;105;p14"/>
          <p:cNvSpPr txBox="1"/>
          <p:nvPr>
            <p:ph idx="8" type="ctrTitle"/>
          </p:nvPr>
        </p:nvSpPr>
        <p:spPr>
          <a:xfrm>
            <a:off x="579450" y="401450"/>
            <a:ext cx="45930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6" name="Google Shape;106;p14"/>
          <p:cNvSpPr txBox="1"/>
          <p:nvPr>
            <p:ph hasCustomPrompt="1" idx="9" type="title"/>
          </p:nvPr>
        </p:nvSpPr>
        <p:spPr>
          <a:xfrm>
            <a:off x="683628" y="1358010"/>
            <a:ext cx="19065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/>
          <p:nvPr>
            <p:ph hasCustomPrompt="1" idx="13" type="title"/>
          </p:nvPr>
        </p:nvSpPr>
        <p:spPr>
          <a:xfrm>
            <a:off x="693636" y="3141768"/>
            <a:ext cx="19065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14"/>
          <p:cNvSpPr txBox="1"/>
          <p:nvPr>
            <p:ph hasCustomPrompt="1" idx="14" type="title"/>
          </p:nvPr>
        </p:nvSpPr>
        <p:spPr>
          <a:xfrm>
            <a:off x="3180682" y="1370400"/>
            <a:ext cx="18534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14"/>
          <p:cNvSpPr txBox="1"/>
          <p:nvPr>
            <p:ph hasCustomPrompt="1" idx="15" type="title"/>
          </p:nvPr>
        </p:nvSpPr>
        <p:spPr>
          <a:xfrm>
            <a:off x="3233530" y="3141774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pic>
        <p:nvPicPr>
          <p:cNvPr id="110" name="Google Shape;11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41276" y="2195283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41276" y="-482985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/>
          <p:nvPr/>
        </p:nvSpPr>
        <p:spPr>
          <a:xfrm>
            <a:off x="3042082" y="12638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81586" y="30373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579457" y="12638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3045130" y="30373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8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2722955" y="3329200"/>
            <a:ext cx="36981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9pPr>
          </a:lstStyle>
          <a:p/>
        </p:txBody>
      </p:sp>
      <p:sp>
        <p:nvSpPr>
          <p:cNvPr id="119" name="Google Shape;119;p15"/>
          <p:cNvSpPr txBox="1"/>
          <p:nvPr>
            <p:ph type="ctrTitle"/>
          </p:nvPr>
        </p:nvSpPr>
        <p:spPr>
          <a:xfrm>
            <a:off x="1710150" y="1328125"/>
            <a:ext cx="5723700" cy="18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3400"/>
              </a:spcBef>
              <a:spcAft>
                <a:spcPts val="0"/>
              </a:spcAft>
              <a:buSzPts val="3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20" name="Google Shape;12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79774" y="-405667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988976" y="2112358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CUSTOM_3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idx="1" type="subTitle"/>
          </p:nvPr>
        </p:nvSpPr>
        <p:spPr>
          <a:xfrm>
            <a:off x="4511650" y="3131900"/>
            <a:ext cx="37179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9pPr>
          </a:lstStyle>
          <a:p/>
        </p:txBody>
      </p:sp>
      <p:sp>
        <p:nvSpPr>
          <p:cNvPr id="125" name="Google Shape;125;p16"/>
          <p:cNvSpPr txBox="1"/>
          <p:nvPr>
            <p:ph type="ctrTitle"/>
          </p:nvPr>
        </p:nvSpPr>
        <p:spPr>
          <a:xfrm>
            <a:off x="4511650" y="1054625"/>
            <a:ext cx="3717900" cy="18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3400"/>
              </a:spcBef>
              <a:spcAft>
                <a:spcPts val="0"/>
              </a:spcAft>
              <a:buSzPts val="3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26" name="Google Shape;126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176" y="-501681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10" y="2213744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CUSTOM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176" y="-501681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10" y="2213744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25110" y="-501568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41276" y="2213857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>
            <p:ph type="ctrTitle"/>
          </p:nvPr>
        </p:nvSpPr>
        <p:spPr>
          <a:xfrm>
            <a:off x="2422500" y="2348625"/>
            <a:ext cx="4299000" cy="6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5" name="Google Shape;135;p17"/>
          <p:cNvSpPr txBox="1"/>
          <p:nvPr>
            <p:ph hasCustomPrompt="1" idx="2" type="title"/>
          </p:nvPr>
        </p:nvSpPr>
        <p:spPr>
          <a:xfrm>
            <a:off x="2422500" y="1296000"/>
            <a:ext cx="4299000" cy="10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6" name="Google Shape;136;p17"/>
          <p:cNvSpPr txBox="1"/>
          <p:nvPr>
            <p:ph idx="1" type="subTitle"/>
          </p:nvPr>
        </p:nvSpPr>
        <p:spPr>
          <a:xfrm>
            <a:off x="2422500" y="2893425"/>
            <a:ext cx="42990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2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idx="1" type="subTitle"/>
          </p:nvPr>
        </p:nvSpPr>
        <p:spPr>
          <a:xfrm>
            <a:off x="3143300" y="1928850"/>
            <a:ext cx="28575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ctrTitle"/>
          </p:nvPr>
        </p:nvSpPr>
        <p:spPr>
          <a:xfrm flipH="1">
            <a:off x="2876000" y="709650"/>
            <a:ext cx="33921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141" name="Google Shape;14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41288" y="2866980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2" y="2868654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421663" y="364835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21663" y="-58075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>
            <p:ph type="ctrTitle"/>
          </p:nvPr>
        </p:nvSpPr>
        <p:spPr>
          <a:xfrm flipH="1">
            <a:off x="2359650" y="1400650"/>
            <a:ext cx="4424700" cy="9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8" name="Google Shape;148;p19"/>
          <p:cNvSpPr txBox="1"/>
          <p:nvPr>
            <p:ph idx="1" type="subTitle"/>
          </p:nvPr>
        </p:nvSpPr>
        <p:spPr>
          <a:xfrm>
            <a:off x="2378700" y="2530005"/>
            <a:ext cx="4386600" cy="9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9" name="Google Shape;14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9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idx="1" type="subTitle"/>
          </p:nvPr>
        </p:nvSpPr>
        <p:spPr>
          <a:xfrm>
            <a:off x="1398700" y="2910300"/>
            <a:ext cx="3486000" cy="17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2" name="Google Shape;152;p20"/>
          <p:cNvSpPr txBox="1"/>
          <p:nvPr>
            <p:ph type="ctrTitle"/>
          </p:nvPr>
        </p:nvSpPr>
        <p:spPr>
          <a:xfrm flipH="1">
            <a:off x="1372450" y="1886100"/>
            <a:ext cx="34860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5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153" name="Google Shape;15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34325" y="1725475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0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ctrTitle"/>
          </p:nvPr>
        </p:nvSpPr>
        <p:spPr>
          <a:xfrm>
            <a:off x="5225420" y="1852550"/>
            <a:ext cx="29652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7" name="Google Shape;157;p21"/>
          <p:cNvSpPr txBox="1"/>
          <p:nvPr>
            <p:ph idx="1" type="subTitle"/>
          </p:nvPr>
        </p:nvSpPr>
        <p:spPr>
          <a:xfrm>
            <a:off x="5242550" y="2648825"/>
            <a:ext cx="2930700" cy="12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158" name="Google Shape;15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112650" y="3448750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idx="1" type="subTitle"/>
          </p:nvPr>
        </p:nvSpPr>
        <p:spPr>
          <a:xfrm>
            <a:off x="4838200" y="1496605"/>
            <a:ext cx="3242700" cy="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2" name="Google Shape;162;p22"/>
          <p:cNvSpPr txBox="1"/>
          <p:nvPr>
            <p:ph idx="2" type="subTitle"/>
          </p:nvPr>
        </p:nvSpPr>
        <p:spPr>
          <a:xfrm>
            <a:off x="4838200" y="3792973"/>
            <a:ext cx="3242700" cy="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3" name="Google Shape;163;p22"/>
          <p:cNvSpPr txBox="1"/>
          <p:nvPr>
            <p:ph type="ctrTitle"/>
          </p:nvPr>
        </p:nvSpPr>
        <p:spPr>
          <a:xfrm flipH="1">
            <a:off x="457275" y="1931475"/>
            <a:ext cx="2875200" cy="12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4" name="Google Shape;164;p22"/>
          <p:cNvSpPr txBox="1"/>
          <p:nvPr>
            <p:ph idx="3" type="ctrTitle"/>
          </p:nvPr>
        </p:nvSpPr>
        <p:spPr>
          <a:xfrm>
            <a:off x="4838200" y="1336535"/>
            <a:ext cx="3242700" cy="26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5" name="Google Shape;165;p22"/>
          <p:cNvSpPr txBox="1"/>
          <p:nvPr>
            <p:ph idx="4" type="ctrTitle"/>
          </p:nvPr>
        </p:nvSpPr>
        <p:spPr>
          <a:xfrm>
            <a:off x="4838200" y="3626911"/>
            <a:ext cx="3242700" cy="26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166" name="Google Shape;166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675" y="-5334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4675" y="354977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/>
          <p:nvPr/>
        </p:nvSpPr>
        <p:spPr>
          <a:xfrm>
            <a:off x="4226350" y="2752750"/>
            <a:ext cx="4470600" cy="1943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/>
          <p:nvPr/>
        </p:nvSpPr>
        <p:spPr>
          <a:xfrm>
            <a:off x="4226350" y="441872"/>
            <a:ext cx="4470600" cy="1943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 text 5">
  <p:cSld name="CUSTOM_4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idx="1" type="subTitle"/>
          </p:nvPr>
        </p:nvSpPr>
        <p:spPr>
          <a:xfrm>
            <a:off x="4390050" y="2938200"/>
            <a:ext cx="3405000" cy="17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3" name="Google Shape;173;p23"/>
          <p:cNvSpPr txBox="1"/>
          <p:nvPr>
            <p:ph type="ctrTitle"/>
          </p:nvPr>
        </p:nvSpPr>
        <p:spPr>
          <a:xfrm flipH="1">
            <a:off x="4114500" y="2004895"/>
            <a:ext cx="3956100" cy="7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174" name="Google Shape;17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823501" y="-1143550"/>
            <a:ext cx="4655626" cy="420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311459" y="2523800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4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ctrTitle"/>
          </p:nvPr>
        </p:nvSpPr>
        <p:spPr>
          <a:xfrm>
            <a:off x="457200" y="517918"/>
            <a:ext cx="82296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9" name="Google Shape;179;p24"/>
          <p:cNvSpPr txBox="1"/>
          <p:nvPr>
            <p:ph idx="2" type="ctrTitle"/>
          </p:nvPr>
        </p:nvSpPr>
        <p:spPr>
          <a:xfrm>
            <a:off x="2750155" y="1492066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0" name="Google Shape;180;p24"/>
          <p:cNvSpPr txBox="1"/>
          <p:nvPr>
            <p:ph idx="1" type="subTitle"/>
          </p:nvPr>
        </p:nvSpPr>
        <p:spPr>
          <a:xfrm>
            <a:off x="2750119" y="2192634"/>
            <a:ext cx="15702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1" name="Google Shape;181;p24"/>
          <p:cNvSpPr txBox="1"/>
          <p:nvPr>
            <p:ph idx="3" type="ctrTitle"/>
          </p:nvPr>
        </p:nvSpPr>
        <p:spPr>
          <a:xfrm>
            <a:off x="4800201" y="1497325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2" name="Google Shape;182;p24"/>
          <p:cNvSpPr txBox="1"/>
          <p:nvPr>
            <p:ph idx="4" type="subTitle"/>
          </p:nvPr>
        </p:nvSpPr>
        <p:spPr>
          <a:xfrm>
            <a:off x="4800165" y="2192634"/>
            <a:ext cx="15702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3" name="Google Shape;183;p24"/>
          <p:cNvSpPr txBox="1"/>
          <p:nvPr>
            <p:ph idx="5" type="ctrTitle"/>
          </p:nvPr>
        </p:nvSpPr>
        <p:spPr>
          <a:xfrm>
            <a:off x="3794948" y="3219050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4" name="Google Shape;184;p24"/>
          <p:cNvSpPr txBox="1"/>
          <p:nvPr>
            <p:ph idx="6" type="subTitle"/>
          </p:nvPr>
        </p:nvSpPr>
        <p:spPr>
          <a:xfrm>
            <a:off x="3753025" y="3910976"/>
            <a:ext cx="16539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185" name="Google Shape;18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/>
          <p:nvPr/>
        </p:nvSpPr>
        <p:spPr>
          <a:xfrm rot="5400000">
            <a:off x="2534502" y="1090938"/>
            <a:ext cx="2001410" cy="17955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4"/>
          <p:cNvSpPr/>
          <p:nvPr/>
        </p:nvSpPr>
        <p:spPr>
          <a:xfrm rot="5400000">
            <a:off x="3566117" y="2781995"/>
            <a:ext cx="2001410" cy="17955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4"/>
          <p:cNvSpPr/>
          <p:nvPr/>
        </p:nvSpPr>
        <p:spPr>
          <a:xfrm rot="5400000">
            <a:off x="4584549" y="1090938"/>
            <a:ext cx="2001410" cy="17955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262630" y="2659235"/>
            <a:ext cx="2928524" cy="264239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3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ctrTitle"/>
          </p:nvPr>
        </p:nvSpPr>
        <p:spPr>
          <a:xfrm>
            <a:off x="457200" y="517918"/>
            <a:ext cx="82296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3" name="Google Shape;193;p25"/>
          <p:cNvSpPr txBox="1"/>
          <p:nvPr>
            <p:ph idx="2" type="ctrTitle"/>
          </p:nvPr>
        </p:nvSpPr>
        <p:spPr>
          <a:xfrm>
            <a:off x="3716190" y="2062575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94" name="Google Shape;194;p25"/>
          <p:cNvSpPr txBox="1"/>
          <p:nvPr>
            <p:ph idx="1" type="subTitle"/>
          </p:nvPr>
        </p:nvSpPr>
        <p:spPr>
          <a:xfrm>
            <a:off x="3716190" y="2765019"/>
            <a:ext cx="15702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5"/>
          <p:cNvSpPr txBox="1"/>
          <p:nvPr>
            <p:ph idx="3" type="ctrTitle"/>
          </p:nvPr>
        </p:nvSpPr>
        <p:spPr>
          <a:xfrm>
            <a:off x="5910940" y="2066326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96" name="Google Shape;196;p25"/>
          <p:cNvSpPr txBox="1"/>
          <p:nvPr>
            <p:ph idx="4" type="subTitle"/>
          </p:nvPr>
        </p:nvSpPr>
        <p:spPr>
          <a:xfrm>
            <a:off x="5910940" y="2866007"/>
            <a:ext cx="15702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5"/>
          <p:cNvSpPr txBox="1"/>
          <p:nvPr>
            <p:ph idx="5" type="ctrTitle"/>
          </p:nvPr>
        </p:nvSpPr>
        <p:spPr>
          <a:xfrm>
            <a:off x="1521440" y="2062585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98" name="Google Shape;198;p25"/>
          <p:cNvSpPr txBox="1"/>
          <p:nvPr>
            <p:ph idx="6" type="subTitle"/>
          </p:nvPr>
        </p:nvSpPr>
        <p:spPr>
          <a:xfrm>
            <a:off x="1479590" y="2765029"/>
            <a:ext cx="16539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9" name="Google Shape;19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3138825" y="3806025"/>
            <a:ext cx="2957125" cy="266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39551" y="-408250"/>
            <a:ext cx="2494901" cy="225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44449" y="-571400"/>
            <a:ext cx="2494901" cy="2251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5"/>
          <p:cNvSpPr/>
          <p:nvPr/>
        </p:nvSpPr>
        <p:spPr>
          <a:xfrm>
            <a:off x="5653690" y="1619951"/>
            <a:ext cx="2084700" cy="1908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5"/>
          <p:cNvSpPr/>
          <p:nvPr/>
        </p:nvSpPr>
        <p:spPr>
          <a:xfrm>
            <a:off x="5843140" y="1793451"/>
            <a:ext cx="1705800" cy="15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5"/>
          <p:cNvSpPr/>
          <p:nvPr/>
        </p:nvSpPr>
        <p:spPr>
          <a:xfrm>
            <a:off x="3458940" y="1619951"/>
            <a:ext cx="2084700" cy="1908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/>
          <p:nvPr/>
        </p:nvSpPr>
        <p:spPr>
          <a:xfrm>
            <a:off x="3648390" y="1793451"/>
            <a:ext cx="1705800" cy="15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5"/>
          <p:cNvSpPr/>
          <p:nvPr/>
        </p:nvSpPr>
        <p:spPr>
          <a:xfrm>
            <a:off x="1264190" y="1619951"/>
            <a:ext cx="2084700" cy="1908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5"/>
          <p:cNvSpPr/>
          <p:nvPr/>
        </p:nvSpPr>
        <p:spPr>
          <a:xfrm>
            <a:off x="1453700" y="1793451"/>
            <a:ext cx="1705800" cy="15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37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ctrTitle"/>
          </p:nvPr>
        </p:nvSpPr>
        <p:spPr>
          <a:xfrm>
            <a:off x="457200" y="517918"/>
            <a:ext cx="82296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1" name="Google Shape;211;p26"/>
          <p:cNvSpPr txBox="1"/>
          <p:nvPr>
            <p:ph idx="2" type="ctrTitle"/>
          </p:nvPr>
        </p:nvSpPr>
        <p:spPr>
          <a:xfrm>
            <a:off x="3675800" y="1638900"/>
            <a:ext cx="1841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2" name="Google Shape;212;p26"/>
          <p:cNvSpPr txBox="1"/>
          <p:nvPr>
            <p:ph idx="1" type="subTitle"/>
          </p:nvPr>
        </p:nvSpPr>
        <p:spPr>
          <a:xfrm>
            <a:off x="3675813" y="2100350"/>
            <a:ext cx="1841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3" name="Google Shape;213;p26"/>
          <p:cNvSpPr txBox="1"/>
          <p:nvPr>
            <p:ph idx="3" type="ctrTitle"/>
          </p:nvPr>
        </p:nvSpPr>
        <p:spPr>
          <a:xfrm>
            <a:off x="5921301" y="1628801"/>
            <a:ext cx="1818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4" name="Google Shape;214;p26"/>
          <p:cNvSpPr txBox="1"/>
          <p:nvPr>
            <p:ph idx="4" type="subTitle"/>
          </p:nvPr>
        </p:nvSpPr>
        <p:spPr>
          <a:xfrm>
            <a:off x="5898455" y="2074101"/>
            <a:ext cx="1841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6"/>
          <p:cNvSpPr txBox="1"/>
          <p:nvPr>
            <p:ph idx="5" type="ctrTitle"/>
          </p:nvPr>
        </p:nvSpPr>
        <p:spPr>
          <a:xfrm>
            <a:off x="1413972" y="1638900"/>
            <a:ext cx="1888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6" name="Google Shape;216;p26"/>
          <p:cNvSpPr txBox="1"/>
          <p:nvPr>
            <p:ph idx="6" type="subTitle"/>
          </p:nvPr>
        </p:nvSpPr>
        <p:spPr>
          <a:xfrm>
            <a:off x="1416400" y="2100350"/>
            <a:ext cx="18831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217" name="Google Shape;217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39551" y="-408250"/>
            <a:ext cx="2494901" cy="225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44449" y="-571400"/>
            <a:ext cx="2494901" cy="2251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6"/>
          <p:cNvSpPr txBox="1"/>
          <p:nvPr>
            <p:ph idx="7" type="ctrTitle"/>
          </p:nvPr>
        </p:nvSpPr>
        <p:spPr>
          <a:xfrm>
            <a:off x="5920295" y="3212913"/>
            <a:ext cx="1841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0" name="Google Shape;220;p26"/>
          <p:cNvSpPr txBox="1"/>
          <p:nvPr>
            <p:ph idx="8" type="subTitle"/>
          </p:nvPr>
        </p:nvSpPr>
        <p:spPr>
          <a:xfrm>
            <a:off x="5920252" y="3658212"/>
            <a:ext cx="1841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6"/>
          <p:cNvSpPr txBox="1"/>
          <p:nvPr>
            <p:ph idx="9" type="ctrTitle"/>
          </p:nvPr>
        </p:nvSpPr>
        <p:spPr>
          <a:xfrm>
            <a:off x="1413969" y="3212913"/>
            <a:ext cx="1841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2" name="Google Shape;222;p26"/>
          <p:cNvSpPr txBox="1"/>
          <p:nvPr>
            <p:ph idx="13" type="subTitle"/>
          </p:nvPr>
        </p:nvSpPr>
        <p:spPr>
          <a:xfrm>
            <a:off x="1413926" y="3658212"/>
            <a:ext cx="1841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6"/>
          <p:cNvSpPr txBox="1"/>
          <p:nvPr>
            <p:ph idx="14" type="ctrTitle"/>
          </p:nvPr>
        </p:nvSpPr>
        <p:spPr>
          <a:xfrm>
            <a:off x="3675843" y="3212913"/>
            <a:ext cx="1841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4" name="Google Shape;224;p26"/>
          <p:cNvSpPr txBox="1"/>
          <p:nvPr>
            <p:ph idx="15" type="subTitle"/>
          </p:nvPr>
        </p:nvSpPr>
        <p:spPr>
          <a:xfrm>
            <a:off x="3675800" y="3658212"/>
            <a:ext cx="1841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6"/>
          <p:cNvSpPr/>
          <p:nvPr/>
        </p:nvSpPr>
        <p:spPr>
          <a:xfrm>
            <a:off x="1366875" y="1705800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6"/>
          <p:cNvSpPr/>
          <p:nvPr/>
        </p:nvSpPr>
        <p:spPr>
          <a:xfrm>
            <a:off x="3607775" y="17058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6"/>
          <p:cNvSpPr/>
          <p:nvPr/>
        </p:nvSpPr>
        <p:spPr>
          <a:xfrm>
            <a:off x="3607775" y="32637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6"/>
          <p:cNvSpPr/>
          <p:nvPr/>
        </p:nvSpPr>
        <p:spPr>
          <a:xfrm>
            <a:off x="5848675" y="17058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6"/>
          <p:cNvSpPr/>
          <p:nvPr/>
        </p:nvSpPr>
        <p:spPr>
          <a:xfrm>
            <a:off x="5848675" y="32637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6"/>
          <p:cNvSpPr/>
          <p:nvPr/>
        </p:nvSpPr>
        <p:spPr>
          <a:xfrm>
            <a:off x="1366875" y="3263700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40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ctrTitle"/>
          </p:nvPr>
        </p:nvSpPr>
        <p:spPr>
          <a:xfrm>
            <a:off x="1242600" y="1830975"/>
            <a:ext cx="66588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4" name="Google Shape;234;p27"/>
          <p:cNvSpPr txBox="1"/>
          <p:nvPr>
            <p:ph idx="1" type="subTitle"/>
          </p:nvPr>
        </p:nvSpPr>
        <p:spPr>
          <a:xfrm>
            <a:off x="3106675" y="2632418"/>
            <a:ext cx="2930700" cy="12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235" name="Google Shape;235;p27"/>
          <p:cNvCxnSpPr/>
          <p:nvPr/>
        </p:nvCxnSpPr>
        <p:spPr>
          <a:xfrm>
            <a:off x="3681150" y="2571750"/>
            <a:ext cx="1797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6" name="Google Shape;23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" y="-962131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34325" y="2668625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1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/>
          <p:nvPr>
            <p:ph type="ctrTitle"/>
          </p:nvPr>
        </p:nvSpPr>
        <p:spPr>
          <a:xfrm>
            <a:off x="1250675" y="1851425"/>
            <a:ext cx="66588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1" name="Google Shape;241;p28"/>
          <p:cNvSpPr txBox="1"/>
          <p:nvPr>
            <p:ph idx="1" type="subTitle"/>
          </p:nvPr>
        </p:nvSpPr>
        <p:spPr>
          <a:xfrm>
            <a:off x="3114750" y="2640476"/>
            <a:ext cx="2930700" cy="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242" name="Google Shape;242;p28"/>
          <p:cNvCxnSpPr/>
          <p:nvPr/>
        </p:nvCxnSpPr>
        <p:spPr>
          <a:xfrm>
            <a:off x="3681150" y="2571750"/>
            <a:ext cx="1797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3" name="Google Shape;243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100" y="2134944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41285" y="-200131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12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 txBox="1"/>
          <p:nvPr>
            <p:ph type="ctrTitle"/>
          </p:nvPr>
        </p:nvSpPr>
        <p:spPr>
          <a:xfrm>
            <a:off x="1250675" y="2994425"/>
            <a:ext cx="66588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8" name="Google Shape;248;p29"/>
          <p:cNvSpPr txBox="1"/>
          <p:nvPr>
            <p:ph idx="1" type="subTitle"/>
          </p:nvPr>
        </p:nvSpPr>
        <p:spPr>
          <a:xfrm>
            <a:off x="3114750" y="3631076"/>
            <a:ext cx="2930700" cy="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249" name="Google Shape;24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41286" y="0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0" y="0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44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>
            <p:ph type="title"/>
          </p:nvPr>
        </p:nvSpPr>
        <p:spPr>
          <a:xfrm>
            <a:off x="457200" y="453668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54" name="Google Shape;254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0"/>
          <p:cNvSpPr txBox="1"/>
          <p:nvPr>
            <p:ph idx="1" type="subTitle"/>
          </p:nvPr>
        </p:nvSpPr>
        <p:spPr>
          <a:xfrm>
            <a:off x="1638300" y="3524733"/>
            <a:ext cx="13812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0"/>
          <p:cNvSpPr txBox="1"/>
          <p:nvPr>
            <p:ph idx="2" type="subTitle"/>
          </p:nvPr>
        </p:nvSpPr>
        <p:spPr>
          <a:xfrm>
            <a:off x="3104700" y="3514233"/>
            <a:ext cx="13971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0"/>
          <p:cNvSpPr txBox="1"/>
          <p:nvPr>
            <p:ph idx="3" type="subTitle"/>
          </p:nvPr>
        </p:nvSpPr>
        <p:spPr>
          <a:xfrm>
            <a:off x="4571100" y="3511408"/>
            <a:ext cx="13812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0"/>
          <p:cNvSpPr txBox="1"/>
          <p:nvPr>
            <p:ph idx="4" type="subTitle"/>
          </p:nvPr>
        </p:nvSpPr>
        <p:spPr>
          <a:xfrm>
            <a:off x="6023400" y="3529870"/>
            <a:ext cx="13971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0"/>
          <p:cNvSpPr txBox="1"/>
          <p:nvPr>
            <p:ph idx="5" type="subTitle"/>
          </p:nvPr>
        </p:nvSpPr>
        <p:spPr>
          <a:xfrm>
            <a:off x="1638300" y="3196233"/>
            <a:ext cx="13971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60" name="Google Shape;260;p30"/>
          <p:cNvSpPr txBox="1"/>
          <p:nvPr>
            <p:ph idx="6" type="subTitle"/>
          </p:nvPr>
        </p:nvSpPr>
        <p:spPr>
          <a:xfrm>
            <a:off x="3104700" y="3196233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61" name="Google Shape;261;p30"/>
          <p:cNvSpPr txBox="1"/>
          <p:nvPr>
            <p:ph idx="7" type="subTitle"/>
          </p:nvPr>
        </p:nvSpPr>
        <p:spPr>
          <a:xfrm>
            <a:off x="4571999" y="3196233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62" name="Google Shape;262;p30"/>
          <p:cNvSpPr txBox="1"/>
          <p:nvPr>
            <p:ph idx="8" type="subTitle"/>
          </p:nvPr>
        </p:nvSpPr>
        <p:spPr>
          <a:xfrm>
            <a:off x="6037498" y="3196233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63" name="Google Shape;263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45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/>
          <p:nvPr>
            <p:ph type="ctrTitle"/>
          </p:nvPr>
        </p:nvSpPr>
        <p:spPr>
          <a:xfrm flipH="1">
            <a:off x="457200" y="449368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266" name="Google Shape;26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2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1"/>
          <p:cNvSpPr txBox="1"/>
          <p:nvPr>
            <p:ph idx="1" type="subTitle"/>
          </p:nvPr>
        </p:nvSpPr>
        <p:spPr>
          <a:xfrm>
            <a:off x="540000" y="3527280"/>
            <a:ext cx="13812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1"/>
          <p:cNvSpPr txBox="1"/>
          <p:nvPr>
            <p:ph idx="2" type="subTitle"/>
          </p:nvPr>
        </p:nvSpPr>
        <p:spPr>
          <a:xfrm>
            <a:off x="2741438" y="2077288"/>
            <a:ext cx="13971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1"/>
          <p:cNvSpPr txBox="1"/>
          <p:nvPr>
            <p:ph idx="3" type="subTitle"/>
          </p:nvPr>
        </p:nvSpPr>
        <p:spPr>
          <a:xfrm>
            <a:off x="5033512" y="3516526"/>
            <a:ext cx="13812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idx="4" type="subTitle"/>
          </p:nvPr>
        </p:nvSpPr>
        <p:spPr>
          <a:xfrm>
            <a:off x="7214825" y="2077856"/>
            <a:ext cx="13971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31"/>
          <p:cNvSpPr txBox="1"/>
          <p:nvPr>
            <p:ph idx="5" type="subTitle"/>
          </p:nvPr>
        </p:nvSpPr>
        <p:spPr>
          <a:xfrm>
            <a:off x="532050" y="3198780"/>
            <a:ext cx="13971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73" name="Google Shape;273;p31"/>
          <p:cNvSpPr txBox="1"/>
          <p:nvPr>
            <p:ph idx="6" type="subTitle"/>
          </p:nvPr>
        </p:nvSpPr>
        <p:spPr>
          <a:xfrm>
            <a:off x="2749388" y="1759288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74" name="Google Shape;274;p31"/>
          <p:cNvSpPr txBox="1"/>
          <p:nvPr>
            <p:ph idx="7" type="subTitle"/>
          </p:nvPr>
        </p:nvSpPr>
        <p:spPr>
          <a:xfrm>
            <a:off x="5033512" y="3201351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75" name="Google Shape;275;p31"/>
          <p:cNvSpPr txBox="1"/>
          <p:nvPr>
            <p:ph idx="8" type="subTitle"/>
          </p:nvPr>
        </p:nvSpPr>
        <p:spPr>
          <a:xfrm>
            <a:off x="7222775" y="1765255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76" name="Google Shape;276;p31"/>
          <p:cNvSpPr/>
          <p:nvPr/>
        </p:nvSpPr>
        <p:spPr>
          <a:xfrm>
            <a:off x="2774288" y="2968200"/>
            <a:ext cx="1331400" cy="1260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1"/>
          <p:cNvSpPr/>
          <p:nvPr/>
        </p:nvSpPr>
        <p:spPr>
          <a:xfrm>
            <a:off x="5058412" y="1896175"/>
            <a:ext cx="1331400" cy="1260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1"/>
          <p:cNvSpPr/>
          <p:nvPr/>
        </p:nvSpPr>
        <p:spPr>
          <a:xfrm>
            <a:off x="7247675" y="2968200"/>
            <a:ext cx="1331400" cy="1260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1"/>
          <p:cNvSpPr/>
          <p:nvPr/>
        </p:nvSpPr>
        <p:spPr>
          <a:xfrm>
            <a:off x="564900" y="1896175"/>
            <a:ext cx="1331400" cy="1260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46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2"/>
          <p:cNvSpPr txBox="1"/>
          <p:nvPr>
            <p:ph type="ctrTitle"/>
          </p:nvPr>
        </p:nvSpPr>
        <p:spPr>
          <a:xfrm flipH="1">
            <a:off x="457200" y="449368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283" name="Google Shape;283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2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2"/>
          <p:cNvSpPr txBox="1"/>
          <p:nvPr>
            <p:ph idx="1" type="subTitle"/>
          </p:nvPr>
        </p:nvSpPr>
        <p:spPr>
          <a:xfrm>
            <a:off x="871700" y="2932300"/>
            <a:ext cx="13656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2"/>
          <p:cNvSpPr txBox="1"/>
          <p:nvPr>
            <p:ph idx="2" type="subTitle"/>
          </p:nvPr>
        </p:nvSpPr>
        <p:spPr>
          <a:xfrm>
            <a:off x="2957400" y="2914675"/>
            <a:ext cx="13971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32"/>
          <p:cNvSpPr txBox="1"/>
          <p:nvPr>
            <p:ph idx="3" type="subTitle"/>
          </p:nvPr>
        </p:nvSpPr>
        <p:spPr>
          <a:xfrm>
            <a:off x="5026550" y="2911563"/>
            <a:ext cx="13812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2"/>
          <p:cNvSpPr txBox="1"/>
          <p:nvPr>
            <p:ph idx="4" type="subTitle"/>
          </p:nvPr>
        </p:nvSpPr>
        <p:spPr>
          <a:xfrm>
            <a:off x="7080700" y="2906381"/>
            <a:ext cx="13971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32"/>
          <p:cNvSpPr txBox="1"/>
          <p:nvPr>
            <p:ph idx="5" type="subTitle"/>
          </p:nvPr>
        </p:nvSpPr>
        <p:spPr>
          <a:xfrm>
            <a:off x="871700" y="2603800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90" name="Google Shape;290;p32"/>
          <p:cNvSpPr txBox="1"/>
          <p:nvPr>
            <p:ph idx="6" type="subTitle"/>
          </p:nvPr>
        </p:nvSpPr>
        <p:spPr>
          <a:xfrm>
            <a:off x="2957400" y="2596675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91" name="Google Shape;291;p32"/>
          <p:cNvSpPr txBox="1"/>
          <p:nvPr>
            <p:ph idx="7" type="subTitle"/>
          </p:nvPr>
        </p:nvSpPr>
        <p:spPr>
          <a:xfrm>
            <a:off x="5027449" y="2596388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92" name="Google Shape;292;p32"/>
          <p:cNvSpPr txBox="1"/>
          <p:nvPr>
            <p:ph idx="8" type="subTitle"/>
          </p:nvPr>
        </p:nvSpPr>
        <p:spPr>
          <a:xfrm>
            <a:off x="7094798" y="2593780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93" name="Google Shape;293;p32"/>
          <p:cNvSpPr/>
          <p:nvPr/>
        </p:nvSpPr>
        <p:spPr>
          <a:xfrm>
            <a:off x="4824854" y="1809750"/>
            <a:ext cx="1771800" cy="2000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2"/>
          <p:cNvSpPr/>
          <p:nvPr/>
        </p:nvSpPr>
        <p:spPr>
          <a:xfrm>
            <a:off x="676400" y="1809750"/>
            <a:ext cx="1771800" cy="2000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2"/>
          <p:cNvSpPr/>
          <p:nvPr/>
        </p:nvSpPr>
        <p:spPr>
          <a:xfrm>
            <a:off x="2762097" y="1809750"/>
            <a:ext cx="1771800" cy="2000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2"/>
          <p:cNvSpPr/>
          <p:nvPr/>
        </p:nvSpPr>
        <p:spPr>
          <a:xfrm>
            <a:off x="6885386" y="1809750"/>
            <a:ext cx="1771800" cy="2000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2"/>
          <p:cNvSpPr/>
          <p:nvPr/>
        </p:nvSpPr>
        <p:spPr>
          <a:xfrm>
            <a:off x="457200" y="1669026"/>
            <a:ext cx="767128" cy="663708"/>
          </a:xfrm>
          <a:custGeom>
            <a:rect b="b" l="l" r="r" t="t"/>
            <a:pathLst>
              <a:path extrusionOk="0" h="27692" w="32007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2"/>
          <p:cNvSpPr/>
          <p:nvPr/>
        </p:nvSpPr>
        <p:spPr>
          <a:xfrm>
            <a:off x="2548551" y="1671756"/>
            <a:ext cx="767128" cy="663708"/>
          </a:xfrm>
          <a:custGeom>
            <a:rect b="b" l="l" r="r" t="t"/>
            <a:pathLst>
              <a:path extrusionOk="0" h="27692" w="32007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2"/>
          <p:cNvSpPr/>
          <p:nvPr/>
        </p:nvSpPr>
        <p:spPr>
          <a:xfrm>
            <a:off x="4618345" y="1663035"/>
            <a:ext cx="767128" cy="663708"/>
          </a:xfrm>
          <a:custGeom>
            <a:rect b="b" l="l" r="r" t="t"/>
            <a:pathLst>
              <a:path extrusionOk="0" h="27692" w="32007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2"/>
          <p:cNvSpPr/>
          <p:nvPr/>
        </p:nvSpPr>
        <p:spPr>
          <a:xfrm>
            <a:off x="6684933" y="1667766"/>
            <a:ext cx="767128" cy="663708"/>
          </a:xfrm>
          <a:custGeom>
            <a:rect b="b" l="l" r="r" t="t"/>
            <a:pathLst>
              <a:path extrusionOk="0" h="27692" w="32007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4">
  <p:cSld name="CUSTOM_47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440291" y="376148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94051" y="376148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3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6" name="Google Shape;306;p33"/>
          <p:cNvSpPr txBox="1"/>
          <p:nvPr>
            <p:ph idx="1" type="subTitle"/>
          </p:nvPr>
        </p:nvSpPr>
        <p:spPr>
          <a:xfrm>
            <a:off x="905500" y="2764675"/>
            <a:ext cx="14385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33"/>
          <p:cNvSpPr txBox="1"/>
          <p:nvPr>
            <p:ph idx="2" type="subTitle"/>
          </p:nvPr>
        </p:nvSpPr>
        <p:spPr>
          <a:xfrm>
            <a:off x="2896725" y="2761596"/>
            <a:ext cx="13971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3"/>
          <p:cNvSpPr txBox="1"/>
          <p:nvPr>
            <p:ph idx="3" type="subTitle"/>
          </p:nvPr>
        </p:nvSpPr>
        <p:spPr>
          <a:xfrm>
            <a:off x="4879150" y="2761049"/>
            <a:ext cx="13812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33"/>
          <p:cNvSpPr txBox="1"/>
          <p:nvPr>
            <p:ph idx="4" type="subTitle"/>
          </p:nvPr>
        </p:nvSpPr>
        <p:spPr>
          <a:xfrm>
            <a:off x="6833675" y="2760900"/>
            <a:ext cx="13971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3"/>
          <p:cNvSpPr txBox="1"/>
          <p:nvPr>
            <p:ph idx="5" type="subTitle"/>
          </p:nvPr>
        </p:nvSpPr>
        <p:spPr>
          <a:xfrm>
            <a:off x="926600" y="2449250"/>
            <a:ext cx="14385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11" name="Google Shape;311;p33"/>
          <p:cNvSpPr txBox="1"/>
          <p:nvPr>
            <p:ph idx="6" type="subTitle"/>
          </p:nvPr>
        </p:nvSpPr>
        <p:spPr>
          <a:xfrm>
            <a:off x="2896724" y="2443588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12" name="Google Shape;312;p33"/>
          <p:cNvSpPr txBox="1"/>
          <p:nvPr>
            <p:ph idx="7" type="subTitle"/>
          </p:nvPr>
        </p:nvSpPr>
        <p:spPr>
          <a:xfrm>
            <a:off x="4880055" y="2445872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13" name="Google Shape;313;p33"/>
          <p:cNvSpPr txBox="1"/>
          <p:nvPr>
            <p:ph idx="8" type="subTitle"/>
          </p:nvPr>
        </p:nvSpPr>
        <p:spPr>
          <a:xfrm>
            <a:off x="6847773" y="2448299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14" name="Google Shape;31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48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"/>
          <p:cNvSpPr txBox="1"/>
          <p:nvPr>
            <p:ph type="ctrTitle"/>
          </p:nvPr>
        </p:nvSpPr>
        <p:spPr>
          <a:xfrm flipH="1">
            <a:off x="540000" y="448619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317" name="Google Shape;317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4"/>
          <p:cNvSpPr txBox="1"/>
          <p:nvPr>
            <p:ph idx="1" type="subTitle"/>
          </p:nvPr>
        </p:nvSpPr>
        <p:spPr>
          <a:xfrm>
            <a:off x="1526019" y="2570265"/>
            <a:ext cx="18129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34"/>
          <p:cNvSpPr txBox="1"/>
          <p:nvPr>
            <p:ph idx="2" type="subTitle"/>
          </p:nvPr>
        </p:nvSpPr>
        <p:spPr>
          <a:xfrm>
            <a:off x="3635401" y="2570272"/>
            <a:ext cx="18732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34"/>
          <p:cNvSpPr txBox="1"/>
          <p:nvPr>
            <p:ph idx="3" type="subTitle"/>
          </p:nvPr>
        </p:nvSpPr>
        <p:spPr>
          <a:xfrm>
            <a:off x="5797968" y="2559605"/>
            <a:ext cx="18507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34"/>
          <p:cNvSpPr txBox="1"/>
          <p:nvPr>
            <p:ph idx="4" type="subTitle"/>
          </p:nvPr>
        </p:nvSpPr>
        <p:spPr>
          <a:xfrm>
            <a:off x="1526019" y="3166668"/>
            <a:ext cx="1812900" cy="46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22" name="Google Shape;322;p34"/>
          <p:cNvSpPr txBox="1"/>
          <p:nvPr>
            <p:ph idx="5" type="subTitle"/>
          </p:nvPr>
        </p:nvSpPr>
        <p:spPr>
          <a:xfrm>
            <a:off x="3646051" y="3166668"/>
            <a:ext cx="1851900" cy="46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23" name="Google Shape;323;p34"/>
          <p:cNvSpPr txBox="1"/>
          <p:nvPr>
            <p:ph idx="6" type="subTitle"/>
          </p:nvPr>
        </p:nvSpPr>
        <p:spPr>
          <a:xfrm>
            <a:off x="5797968" y="3170098"/>
            <a:ext cx="1850700" cy="46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24" name="Google Shape;324;p34"/>
          <p:cNvSpPr/>
          <p:nvPr/>
        </p:nvSpPr>
        <p:spPr>
          <a:xfrm rot="5400000">
            <a:off x="1077063" y="1815559"/>
            <a:ext cx="2710575" cy="21396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4"/>
          <p:cNvSpPr/>
          <p:nvPr/>
        </p:nvSpPr>
        <p:spPr>
          <a:xfrm rot="5400000">
            <a:off x="3216713" y="1815559"/>
            <a:ext cx="2710575" cy="21396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4"/>
          <p:cNvSpPr/>
          <p:nvPr/>
        </p:nvSpPr>
        <p:spPr>
          <a:xfrm rot="5400000">
            <a:off x="5356363" y="1815559"/>
            <a:ext cx="2710575" cy="21396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49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5279" y="-469300"/>
            <a:ext cx="3071650" cy="277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605746" y="-468167"/>
            <a:ext cx="3071650" cy="277154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5"/>
          <p:cNvSpPr txBox="1"/>
          <p:nvPr>
            <p:ph type="ctrTitle"/>
          </p:nvPr>
        </p:nvSpPr>
        <p:spPr>
          <a:xfrm flipH="1">
            <a:off x="457200" y="452225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2" name="Google Shape;332;p35"/>
          <p:cNvSpPr txBox="1"/>
          <p:nvPr>
            <p:ph idx="1" type="subTitle"/>
          </p:nvPr>
        </p:nvSpPr>
        <p:spPr>
          <a:xfrm>
            <a:off x="560206" y="2951258"/>
            <a:ext cx="23865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35"/>
          <p:cNvSpPr txBox="1"/>
          <p:nvPr>
            <p:ph idx="2" type="subTitle"/>
          </p:nvPr>
        </p:nvSpPr>
        <p:spPr>
          <a:xfrm>
            <a:off x="3390622" y="2951265"/>
            <a:ext cx="23805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35"/>
          <p:cNvSpPr txBox="1"/>
          <p:nvPr>
            <p:ph idx="3" type="subTitle"/>
          </p:nvPr>
        </p:nvSpPr>
        <p:spPr>
          <a:xfrm>
            <a:off x="6232531" y="2953683"/>
            <a:ext cx="23670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35"/>
          <p:cNvSpPr txBox="1"/>
          <p:nvPr>
            <p:ph idx="4" type="subTitle"/>
          </p:nvPr>
        </p:nvSpPr>
        <p:spPr>
          <a:xfrm>
            <a:off x="560200" y="3571274"/>
            <a:ext cx="2386500" cy="3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36" name="Google Shape;336;p35"/>
          <p:cNvSpPr txBox="1"/>
          <p:nvPr>
            <p:ph idx="5" type="subTitle"/>
          </p:nvPr>
        </p:nvSpPr>
        <p:spPr>
          <a:xfrm>
            <a:off x="3404151" y="3571274"/>
            <a:ext cx="2353500" cy="3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37" name="Google Shape;337;p35"/>
          <p:cNvSpPr txBox="1"/>
          <p:nvPr>
            <p:ph idx="6" type="subTitle"/>
          </p:nvPr>
        </p:nvSpPr>
        <p:spPr>
          <a:xfrm>
            <a:off x="6232531" y="3561605"/>
            <a:ext cx="23670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38" name="Google Shape;338;p35"/>
          <p:cNvSpPr txBox="1"/>
          <p:nvPr>
            <p:ph idx="7" type="subTitle"/>
          </p:nvPr>
        </p:nvSpPr>
        <p:spPr>
          <a:xfrm>
            <a:off x="540000" y="2580087"/>
            <a:ext cx="23865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39" name="Google Shape;339;p35"/>
          <p:cNvSpPr txBox="1"/>
          <p:nvPr>
            <p:ph idx="8" type="subTitle"/>
          </p:nvPr>
        </p:nvSpPr>
        <p:spPr>
          <a:xfrm>
            <a:off x="3384649" y="2580087"/>
            <a:ext cx="23535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40" name="Google Shape;340;p35"/>
          <p:cNvSpPr txBox="1"/>
          <p:nvPr>
            <p:ph idx="9" type="subTitle"/>
          </p:nvPr>
        </p:nvSpPr>
        <p:spPr>
          <a:xfrm>
            <a:off x="6212900" y="2583512"/>
            <a:ext cx="23670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41" name="Google Shape;341;p35"/>
          <p:cNvSpPr/>
          <p:nvPr/>
        </p:nvSpPr>
        <p:spPr>
          <a:xfrm>
            <a:off x="6120000" y="2551773"/>
            <a:ext cx="2560200" cy="1067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5"/>
          <p:cNvSpPr/>
          <p:nvPr/>
        </p:nvSpPr>
        <p:spPr>
          <a:xfrm>
            <a:off x="3291900" y="2551782"/>
            <a:ext cx="2560200" cy="1067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5"/>
          <p:cNvSpPr/>
          <p:nvPr/>
        </p:nvSpPr>
        <p:spPr>
          <a:xfrm>
            <a:off x="463800" y="2551773"/>
            <a:ext cx="2560200" cy="1067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5"/>
          <p:cNvSpPr txBox="1"/>
          <p:nvPr/>
        </p:nvSpPr>
        <p:spPr>
          <a:xfrm>
            <a:off x="6123563" y="3619448"/>
            <a:ext cx="2553300" cy="345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7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345" name="Google Shape;345;p35"/>
          <p:cNvSpPr txBox="1"/>
          <p:nvPr/>
        </p:nvSpPr>
        <p:spPr>
          <a:xfrm>
            <a:off x="467363" y="3619448"/>
            <a:ext cx="2553300" cy="345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7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346" name="Google Shape;346;p35"/>
          <p:cNvSpPr txBox="1"/>
          <p:nvPr/>
        </p:nvSpPr>
        <p:spPr>
          <a:xfrm>
            <a:off x="3295463" y="3619454"/>
            <a:ext cx="2553300" cy="3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67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347" name="Google Shape;347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3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6"/>
          <p:cNvSpPr txBox="1"/>
          <p:nvPr>
            <p:ph type="ctrTitle"/>
          </p:nvPr>
        </p:nvSpPr>
        <p:spPr>
          <a:xfrm flipH="1">
            <a:off x="457200" y="449368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350" name="Google Shape;350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2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4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7"/>
          <p:cNvSpPr txBox="1"/>
          <p:nvPr>
            <p:ph type="ctrTitle"/>
          </p:nvPr>
        </p:nvSpPr>
        <p:spPr>
          <a:xfrm flipH="1">
            <a:off x="457200" y="44438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355" name="Google Shape;35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5279" y="-316900"/>
            <a:ext cx="3071650" cy="277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605746" y="-315767"/>
            <a:ext cx="3071650" cy="2771549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8"/>
          <p:cNvSpPr txBox="1"/>
          <p:nvPr>
            <p:ph type="ctrTitle"/>
          </p:nvPr>
        </p:nvSpPr>
        <p:spPr>
          <a:xfrm flipH="1">
            <a:off x="540000" y="441718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1" name="Google Shape;361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5">
  <p:cSld name="CUSTOM_50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9"/>
          <p:cNvSpPr txBox="1"/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5" name="Google Shape;365;p39"/>
          <p:cNvSpPr txBox="1"/>
          <p:nvPr>
            <p:ph idx="1" type="subTitle"/>
          </p:nvPr>
        </p:nvSpPr>
        <p:spPr>
          <a:xfrm>
            <a:off x="1203833" y="2719326"/>
            <a:ext cx="22401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39"/>
          <p:cNvSpPr txBox="1"/>
          <p:nvPr>
            <p:ph idx="2" type="subTitle"/>
          </p:nvPr>
        </p:nvSpPr>
        <p:spPr>
          <a:xfrm>
            <a:off x="4766489" y="3583682"/>
            <a:ext cx="22992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39"/>
          <p:cNvSpPr txBox="1"/>
          <p:nvPr>
            <p:ph idx="3" type="subTitle"/>
          </p:nvPr>
        </p:nvSpPr>
        <p:spPr>
          <a:xfrm>
            <a:off x="4772499" y="1802770"/>
            <a:ext cx="22992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39"/>
          <p:cNvSpPr txBox="1"/>
          <p:nvPr>
            <p:ph idx="4" type="subTitle"/>
          </p:nvPr>
        </p:nvSpPr>
        <p:spPr>
          <a:xfrm>
            <a:off x="1203833" y="2196338"/>
            <a:ext cx="22401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69" name="Google Shape;369;p39"/>
          <p:cNvSpPr txBox="1"/>
          <p:nvPr>
            <p:ph idx="5" type="subTitle"/>
          </p:nvPr>
        </p:nvSpPr>
        <p:spPr>
          <a:xfrm>
            <a:off x="4798042" y="3079150"/>
            <a:ext cx="22731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70" name="Google Shape;370;p39"/>
          <p:cNvSpPr txBox="1"/>
          <p:nvPr>
            <p:ph idx="6" type="subTitle"/>
          </p:nvPr>
        </p:nvSpPr>
        <p:spPr>
          <a:xfrm>
            <a:off x="4772499" y="1272083"/>
            <a:ext cx="2299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71" name="Google Shape;371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6">
  <p:cSld name="CUSTOM_5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0"/>
          <p:cNvSpPr txBox="1"/>
          <p:nvPr>
            <p:ph type="ctrTitle"/>
          </p:nvPr>
        </p:nvSpPr>
        <p:spPr>
          <a:xfrm flipH="1">
            <a:off x="457200" y="43704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374" name="Google Shape;374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440291" y="391388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94051" y="391388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540059" y="-586073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96724" y="-59024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0"/>
          <p:cNvSpPr txBox="1"/>
          <p:nvPr>
            <p:ph idx="1" type="subTitle"/>
          </p:nvPr>
        </p:nvSpPr>
        <p:spPr>
          <a:xfrm>
            <a:off x="672350" y="1887930"/>
            <a:ext cx="19566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2" type="subTitle"/>
          </p:nvPr>
        </p:nvSpPr>
        <p:spPr>
          <a:xfrm>
            <a:off x="3580500" y="3409864"/>
            <a:ext cx="19566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40"/>
          <p:cNvSpPr txBox="1"/>
          <p:nvPr>
            <p:ph idx="3" type="subTitle"/>
          </p:nvPr>
        </p:nvSpPr>
        <p:spPr>
          <a:xfrm>
            <a:off x="6515100" y="1895625"/>
            <a:ext cx="19344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40"/>
          <p:cNvSpPr txBox="1"/>
          <p:nvPr>
            <p:ph idx="4" type="subTitle"/>
          </p:nvPr>
        </p:nvSpPr>
        <p:spPr>
          <a:xfrm>
            <a:off x="683450" y="1561974"/>
            <a:ext cx="1934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82" name="Google Shape;382;p40"/>
          <p:cNvSpPr txBox="1"/>
          <p:nvPr>
            <p:ph idx="5" type="subTitle"/>
          </p:nvPr>
        </p:nvSpPr>
        <p:spPr>
          <a:xfrm>
            <a:off x="3591600" y="3070826"/>
            <a:ext cx="1934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83" name="Google Shape;383;p40"/>
          <p:cNvSpPr txBox="1"/>
          <p:nvPr>
            <p:ph idx="6" type="subTitle"/>
          </p:nvPr>
        </p:nvSpPr>
        <p:spPr>
          <a:xfrm>
            <a:off x="6515100" y="1561974"/>
            <a:ext cx="1934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84" name="Google Shape;384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7">
  <p:cSld name="CUSTOM_52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1"/>
          <p:cNvSpPr txBox="1"/>
          <p:nvPr>
            <p:ph type="ctrTitle"/>
          </p:nvPr>
        </p:nvSpPr>
        <p:spPr>
          <a:xfrm flipH="1">
            <a:off x="457200" y="437050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387" name="Google Shape;38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1"/>
          <p:cNvSpPr txBox="1"/>
          <p:nvPr>
            <p:ph idx="1" type="subTitle"/>
          </p:nvPr>
        </p:nvSpPr>
        <p:spPr>
          <a:xfrm>
            <a:off x="1700600" y="2921393"/>
            <a:ext cx="13953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1"/>
          <p:cNvSpPr txBox="1"/>
          <p:nvPr>
            <p:ph idx="2" type="subTitle"/>
          </p:nvPr>
        </p:nvSpPr>
        <p:spPr>
          <a:xfrm>
            <a:off x="1553500" y="2529762"/>
            <a:ext cx="16431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90" name="Google Shape;390;p41"/>
          <p:cNvSpPr txBox="1"/>
          <p:nvPr>
            <p:ph idx="3" type="subTitle"/>
          </p:nvPr>
        </p:nvSpPr>
        <p:spPr>
          <a:xfrm>
            <a:off x="1691000" y="2027255"/>
            <a:ext cx="13953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91" name="Google Shape;391;p41"/>
          <p:cNvSpPr txBox="1"/>
          <p:nvPr>
            <p:ph idx="4" type="subTitle"/>
          </p:nvPr>
        </p:nvSpPr>
        <p:spPr>
          <a:xfrm>
            <a:off x="5929000" y="2926550"/>
            <a:ext cx="16431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41"/>
          <p:cNvSpPr txBox="1"/>
          <p:nvPr>
            <p:ph idx="5" type="subTitle"/>
          </p:nvPr>
        </p:nvSpPr>
        <p:spPr>
          <a:xfrm>
            <a:off x="5905750" y="2518950"/>
            <a:ext cx="16896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93" name="Google Shape;393;p41"/>
          <p:cNvSpPr txBox="1"/>
          <p:nvPr>
            <p:ph idx="6" type="subTitle"/>
          </p:nvPr>
        </p:nvSpPr>
        <p:spPr>
          <a:xfrm>
            <a:off x="6001300" y="2032688"/>
            <a:ext cx="14985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94" name="Google Shape;394;p41"/>
          <p:cNvSpPr txBox="1"/>
          <p:nvPr>
            <p:ph idx="7" type="subTitle"/>
          </p:nvPr>
        </p:nvSpPr>
        <p:spPr>
          <a:xfrm>
            <a:off x="3768500" y="3407943"/>
            <a:ext cx="1606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1"/>
          <p:cNvSpPr txBox="1"/>
          <p:nvPr>
            <p:ph idx="8" type="subTitle"/>
          </p:nvPr>
        </p:nvSpPr>
        <p:spPr>
          <a:xfrm>
            <a:off x="3604790" y="3039918"/>
            <a:ext cx="1934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96" name="Google Shape;396;p41"/>
          <p:cNvSpPr txBox="1"/>
          <p:nvPr>
            <p:ph idx="9" type="subTitle"/>
          </p:nvPr>
        </p:nvSpPr>
        <p:spPr>
          <a:xfrm>
            <a:off x="3604790" y="2529480"/>
            <a:ext cx="1934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97" name="Google Shape;397;p41"/>
          <p:cNvSpPr/>
          <p:nvPr/>
        </p:nvSpPr>
        <p:spPr>
          <a:xfrm>
            <a:off x="3577850" y="1722475"/>
            <a:ext cx="1988100" cy="2905200"/>
          </a:xfrm>
          <a:prstGeom prst="rect">
            <a:avLst/>
          </a:prstGeom>
          <a:solidFill>
            <a:srgbClr val="FFFFFF">
              <a:alpha val="11920"/>
            </a:srgbClr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8" name="Google Shape;398;p41"/>
          <p:cNvSpPr/>
          <p:nvPr/>
        </p:nvSpPr>
        <p:spPr>
          <a:xfrm>
            <a:off x="5756500" y="1177900"/>
            <a:ext cx="1988100" cy="2905200"/>
          </a:xfrm>
          <a:prstGeom prst="rect">
            <a:avLst/>
          </a:prstGeom>
          <a:solidFill>
            <a:srgbClr val="FFFFFF">
              <a:alpha val="11920"/>
            </a:srgbClr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9" name="Google Shape;399;p41"/>
          <p:cNvSpPr/>
          <p:nvPr/>
        </p:nvSpPr>
        <p:spPr>
          <a:xfrm>
            <a:off x="1399400" y="1177900"/>
            <a:ext cx="1988100" cy="2905200"/>
          </a:xfrm>
          <a:prstGeom prst="rect">
            <a:avLst/>
          </a:prstGeom>
          <a:solidFill>
            <a:srgbClr val="FFFFFF">
              <a:alpha val="11920"/>
            </a:srgbClr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00" name="Google Shape;400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125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8">
  <p:cSld name="CUSTOM_54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"/>
          <p:cNvSpPr txBox="1"/>
          <p:nvPr>
            <p:ph idx="1" type="subTitle"/>
          </p:nvPr>
        </p:nvSpPr>
        <p:spPr>
          <a:xfrm>
            <a:off x="974900" y="3744804"/>
            <a:ext cx="21570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2"/>
          <p:cNvSpPr txBox="1"/>
          <p:nvPr>
            <p:ph idx="2" type="subTitle"/>
          </p:nvPr>
        </p:nvSpPr>
        <p:spPr>
          <a:xfrm>
            <a:off x="3554325" y="3744826"/>
            <a:ext cx="21447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42"/>
          <p:cNvSpPr txBox="1"/>
          <p:nvPr>
            <p:ph idx="3" type="subTitle"/>
          </p:nvPr>
        </p:nvSpPr>
        <p:spPr>
          <a:xfrm>
            <a:off x="6002400" y="3747226"/>
            <a:ext cx="21447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42"/>
          <p:cNvSpPr txBox="1"/>
          <p:nvPr>
            <p:ph idx="4" type="subTitle"/>
          </p:nvPr>
        </p:nvSpPr>
        <p:spPr>
          <a:xfrm>
            <a:off x="965900" y="3428412"/>
            <a:ext cx="21750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07" name="Google Shape;407;p42"/>
          <p:cNvSpPr txBox="1"/>
          <p:nvPr>
            <p:ph idx="5" type="subTitle"/>
          </p:nvPr>
        </p:nvSpPr>
        <p:spPr>
          <a:xfrm>
            <a:off x="3566479" y="3439312"/>
            <a:ext cx="21447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08" name="Google Shape;408;p42"/>
          <p:cNvSpPr txBox="1"/>
          <p:nvPr>
            <p:ph idx="6" type="subTitle"/>
          </p:nvPr>
        </p:nvSpPr>
        <p:spPr>
          <a:xfrm>
            <a:off x="5987250" y="3439300"/>
            <a:ext cx="21750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pic>
        <p:nvPicPr>
          <p:cNvPr id="409" name="Google Shape;40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325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42"/>
          <p:cNvSpPr txBox="1"/>
          <p:nvPr>
            <p:ph type="ctrTitle"/>
          </p:nvPr>
        </p:nvSpPr>
        <p:spPr>
          <a:xfrm flipH="1">
            <a:off x="457200" y="445025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4" name="Google Shape;414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 4">
  <p:cSld name="CUSTOM_17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3"/>
          <p:cNvSpPr txBox="1"/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418" name="Google Shape;41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8926" y="4150897"/>
            <a:ext cx="1414025" cy="127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67964" y="4293802"/>
            <a:ext cx="1414025" cy="127585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8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762551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325" y="3762551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-38650"/>
            <a:ext cx="3300524" cy="297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843475" y="0"/>
            <a:ext cx="3300524" cy="297807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4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8" name="Google Shape;428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 6">
  <p:cSld name="CUSTOM_19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71524" y="-514075"/>
            <a:ext cx="2933449" cy="264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72867" y="-514075"/>
            <a:ext cx="2933449" cy="264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5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5" name="Google Shape;435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5">
  <p:cSld name="CUSTOM_23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6"/>
          <p:cNvSpPr txBox="1"/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8" name="Google Shape;438;p46"/>
          <p:cNvSpPr txBox="1"/>
          <p:nvPr>
            <p:ph idx="2" type="ctrTitle"/>
          </p:nvPr>
        </p:nvSpPr>
        <p:spPr>
          <a:xfrm>
            <a:off x="1690457" y="1900424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46"/>
          <p:cNvSpPr txBox="1"/>
          <p:nvPr>
            <p:ph idx="1" type="subTitle"/>
          </p:nvPr>
        </p:nvSpPr>
        <p:spPr>
          <a:xfrm>
            <a:off x="2051807" y="236977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0" name="Google Shape;440;p46"/>
          <p:cNvSpPr txBox="1"/>
          <p:nvPr>
            <p:ph idx="3" type="ctrTitle"/>
          </p:nvPr>
        </p:nvSpPr>
        <p:spPr>
          <a:xfrm>
            <a:off x="1690457" y="340500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1" name="Google Shape;441;p46"/>
          <p:cNvSpPr txBox="1"/>
          <p:nvPr>
            <p:ph idx="4" type="subTitle"/>
          </p:nvPr>
        </p:nvSpPr>
        <p:spPr>
          <a:xfrm>
            <a:off x="2051807" y="387172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2" name="Google Shape;442;p46"/>
          <p:cNvSpPr txBox="1"/>
          <p:nvPr>
            <p:ph idx="5" type="ctrTitle"/>
          </p:nvPr>
        </p:nvSpPr>
        <p:spPr>
          <a:xfrm>
            <a:off x="4824357" y="1900424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3" name="Google Shape;443;p46"/>
          <p:cNvSpPr txBox="1"/>
          <p:nvPr>
            <p:ph idx="6" type="subTitle"/>
          </p:nvPr>
        </p:nvSpPr>
        <p:spPr>
          <a:xfrm>
            <a:off x="5185707" y="236977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4" name="Google Shape;444;p46"/>
          <p:cNvSpPr txBox="1"/>
          <p:nvPr>
            <p:ph idx="7" type="ctrTitle"/>
          </p:nvPr>
        </p:nvSpPr>
        <p:spPr>
          <a:xfrm>
            <a:off x="4824357" y="340500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5" name="Google Shape;445;p46"/>
          <p:cNvSpPr txBox="1"/>
          <p:nvPr>
            <p:ph idx="8" type="subTitle"/>
          </p:nvPr>
        </p:nvSpPr>
        <p:spPr>
          <a:xfrm>
            <a:off x="5185707" y="387172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446" name="Google Shape;446;p46"/>
          <p:cNvCxnSpPr/>
          <p:nvPr/>
        </p:nvCxnSpPr>
        <p:spPr>
          <a:xfrm>
            <a:off x="2273400" y="2110663"/>
            <a:ext cx="4597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46"/>
          <p:cNvCxnSpPr/>
          <p:nvPr/>
        </p:nvCxnSpPr>
        <p:spPr>
          <a:xfrm>
            <a:off x="2273400" y="3627438"/>
            <a:ext cx="4597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8" name="Google Shape;44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-5400000">
            <a:off x="6941050" y="-576048"/>
            <a:ext cx="2754276" cy="248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34550" y="-576388"/>
            <a:ext cx="2754276" cy="248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44075" y="3612343"/>
            <a:ext cx="2754276" cy="248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-5400000">
            <a:off x="6931525" y="3621493"/>
            <a:ext cx="2754276" cy="248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6">
  <p:cSld name="CUSTOM_24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7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5" name="Google Shape;455;p47"/>
          <p:cNvSpPr txBox="1"/>
          <p:nvPr>
            <p:ph idx="2" type="ctrTitle"/>
          </p:nvPr>
        </p:nvSpPr>
        <p:spPr>
          <a:xfrm>
            <a:off x="229439" y="2376009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6" name="Google Shape;456;p47"/>
          <p:cNvSpPr txBox="1"/>
          <p:nvPr>
            <p:ph idx="1" type="subTitle"/>
          </p:nvPr>
        </p:nvSpPr>
        <p:spPr>
          <a:xfrm>
            <a:off x="590789" y="2837472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7" name="Google Shape;457;p47"/>
          <p:cNvSpPr txBox="1"/>
          <p:nvPr>
            <p:ph idx="3" type="ctrTitle"/>
          </p:nvPr>
        </p:nvSpPr>
        <p:spPr>
          <a:xfrm>
            <a:off x="2243273" y="2381109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8" name="Google Shape;458;p47"/>
          <p:cNvSpPr txBox="1"/>
          <p:nvPr>
            <p:ph idx="4" type="subTitle"/>
          </p:nvPr>
        </p:nvSpPr>
        <p:spPr>
          <a:xfrm>
            <a:off x="2604623" y="2842572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9" name="Google Shape;459;p47"/>
          <p:cNvSpPr txBox="1"/>
          <p:nvPr>
            <p:ph idx="5" type="ctrTitle"/>
          </p:nvPr>
        </p:nvSpPr>
        <p:spPr>
          <a:xfrm>
            <a:off x="4285903" y="2386506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0" name="Google Shape;460;p47"/>
          <p:cNvSpPr txBox="1"/>
          <p:nvPr>
            <p:ph idx="6" type="subTitle"/>
          </p:nvPr>
        </p:nvSpPr>
        <p:spPr>
          <a:xfrm>
            <a:off x="4647253" y="2847969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1" name="Google Shape;461;p47"/>
          <p:cNvSpPr txBox="1"/>
          <p:nvPr>
            <p:ph idx="7" type="ctrTitle"/>
          </p:nvPr>
        </p:nvSpPr>
        <p:spPr>
          <a:xfrm>
            <a:off x="6290426" y="2391606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2" name="Google Shape;462;p47"/>
          <p:cNvSpPr txBox="1"/>
          <p:nvPr>
            <p:ph idx="8" type="subTitle"/>
          </p:nvPr>
        </p:nvSpPr>
        <p:spPr>
          <a:xfrm>
            <a:off x="6651776" y="2853069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463" name="Google Shape;463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071825" y="-58113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208780" y="363887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52804" y="3644024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" y="-58141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7"/>
          <p:cNvSpPr/>
          <p:nvPr/>
        </p:nvSpPr>
        <p:spPr>
          <a:xfrm>
            <a:off x="5173671" y="1733509"/>
            <a:ext cx="853640" cy="738728"/>
          </a:xfrm>
          <a:custGeom>
            <a:rect b="b" l="l" r="r" t="t"/>
            <a:pathLst>
              <a:path extrusionOk="0" h="8508" w="9834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7"/>
          <p:cNvSpPr/>
          <p:nvPr/>
        </p:nvSpPr>
        <p:spPr>
          <a:xfrm>
            <a:off x="3131041" y="1723025"/>
            <a:ext cx="853640" cy="738728"/>
          </a:xfrm>
          <a:custGeom>
            <a:rect b="b" l="l" r="r" t="t"/>
            <a:pathLst>
              <a:path extrusionOk="0" h="8508" w="9834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7"/>
          <p:cNvSpPr/>
          <p:nvPr/>
        </p:nvSpPr>
        <p:spPr>
          <a:xfrm>
            <a:off x="7178193" y="1733522"/>
            <a:ext cx="853640" cy="738728"/>
          </a:xfrm>
          <a:custGeom>
            <a:rect b="b" l="l" r="r" t="t"/>
            <a:pathLst>
              <a:path extrusionOk="0" h="8508" w="9834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7"/>
          <p:cNvSpPr/>
          <p:nvPr/>
        </p:nvSpPr>
        <p:spPr>
          <a:xfrm>
            <a:off x="1117206" y="1723013"/>
            <a:ext cx="853640" cy="738728"/>
          </a:xfrm>
          <a:custGeom>
            <a:rect b="b" l="l" r="r" t="t"/>
            <a:pathLst>
              <a:path extrusionOk="0" h="8508" w="9834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55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8"/>
          <p:cNvSpPr txBox="1"/>
          <p:nvPr>
            <p:ph type="ctrTitle"/>
          </p:nvPr>
        </p:nvSpPr>
        <p:spPr>
          <a:xfrm flipH="1">
            <a:off x="540000" y="452026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4" name="Google Shape;474;p48"/>
          <p:cNvSpPr txBox="1"/>
          <p:nvPr>
            <p:ph idx="1" type="subTitle"/>
          </p:nvPr>
        </p:nvSpPr>
        <p:spPr>
          <a:xfrm>
            <a:off x="772100" y="1791299"/>
            <a:ext cx="20136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475" name="Google Shape;475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071825" y="-58113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208780" y="363887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52804" y="3644024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" y="-58141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8"/>
          <p:cNvSpPr txBox="1"/>
          <p:nvPr>
            <p:ph hasCustomPrompt="1" idx="2" type="title"/>
          </p:nvPr>
        </p:nvSpPr>
        <p:spPr>
          <a:xfrm>
            <a:off x="772100" y="1481125"/>
            <a:ext cx="20136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80" name="Google Shape;480;p48"/>
          <p:cNvSpPr txBox="1"/>
          <p:nvPr>
            <p:ph idx="3" type="subTitle"/>
          </p:nvPr>
        </p:nvSpPr>
        <p:spPr>
          <a:xfrm>
            <a:off x="763375" y="2854584"/>
            <a:ext cx="20136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81" name="Google Shape;481;p48"/>
          <p:cNvSpPr txBox="1"/>
          <p:nvPr>
            <p:ph hasCustomPrompt="1" idx="4" type="title"/>
          </p:nvPr>
        </p:nvSpPr>
        <p:spPr>
          <a:xfrm>
            <a:off x="763375" y="2549389"/>
            <a:ext cx="20136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82" name="Google Shape;482;p48"/>
          <p:cNvSpPr txBox="1"/>
          <p:nvPr>
            <p:ph idx="5" type="subTitle"/>
          </p:nvPr>
        </p:nvSpPr>
        <p:spPr>
          <a:xfrm>
            <a:off x="6369350" y="1791299"/>
            <a:ext cx="20136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83" name="Google Shape;483;p48"/>
          <p:cNvSpPr txBox="1"/>
          <p:nvPr>
            <p:ph hasCustomPrompt="1" idx="6" type="title"/>
          </p:nvPr>
        </p:nvSpPr>
        <p:spPr>
          <a:xfrm>
            <a:off x="6369300" y="1481125"/>
            <a:ext cx="20136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84" name="Google Shape;484;p48"/>
          <p:cNvSpPr txBox="1"/>
          <p:nvPr>
            <p:ph idx="7" type="subTitle"/>
          </p:nvPr>
        </p:nvSpPr>
        <p:spPr>
          <a:xfrm>
            <a:off x="6369300" y="2849652"/>
            <a:ext cx="20136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85" name="Google Shape;485;p48"/>
          <p:cNvSpPr txBox="1"/>
          <p:nvPr>
            <p:ph hasCustomPrompt="1" idx="8" type="title"/>
          </p:nvPr>
        </p:nvSpPr>
        <p:spPr>
          <a:xfrm>
            <a:off x="6369300" y="2549402"/>
            <a:ext cx="20136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86" name="Google Shape;486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56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9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9" name="Google Shape;489;p49"/>
          <p:cNvSpPr txBox="1"/>
          <p:nvPr>
            <p:ph idx="1" type="subTitle"/>
          </p:nvPr>
        </p:nvSpPr>
        <p:spPr>
          <a:xfrm>
            <a:off x="1132000" y="3432862"/>
            <a:ext cx="18741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490" name="Google Shape;490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" y="-58141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49"/>
          <p:cNvSpPr txBox="1"/>
          <p:nvPr>
            <p:ph hasCustomPrompt="1" idx="2" type="title"/>
          </p:nvPr>
        </p:nvSpPr>
        <p:spPr>
          <a:xfrm>
            <a:off x="3725850" y="2029263"/>
            <a:ext cx="15159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92" name="Google Shape;492;p49"/>
          <p:cNvSpPr txBox="1"/>
          <p:nvPr>
            <p:ph hasCustomPrompt="1" idx="3" type="title"/>
          </p:nvPr>
        </p:nvSpPr>
        <p:spPr>
          <a:xfrm>
            <a:off x="3022450" y="3601675"/>
            <a:ext cx="14073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93" name="Google Shape;493;p49"/>
          <p:cNvSpPr txBox="1"/>
          <p:nvPr>
            <p:ph hasCustomPrompt="1" idx="4" type="title"/>
          </p:nvPr>
        </p:nvSpPr>
        <p:spPr>
          <a:xfrm>
            <a:off x="4565843" y="3408687"/>
            <a:ext cx="6858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94" name="Google Shape;494;p49"/>
          <p:cNvSpPr txBox="1"/>
          <p:nvPr>
            <p:ph idx="5" type="subTitle"/>
          </p:nvPr>
        </p:nvSpPr>
        <p:spPr>
          <a:xfrm>
            <a:off x="5445069" y="1751762"/>
            <a:ext cx="18687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95" name="Google Shape;495;p49"/>
          <p:cNvSpPr txBox="1"/>
          <p:nvPr>
            <p:ph idx="6" type="subTitle"/>
          </p:nvPr>
        </p:nvSpPr>
        <p:spPr>
          <a:xfrm>
            <a:off x="5326225" y="3441195"/>
            <a:ext cx="18741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96" name="Google Shape;496;p49"/>
          <p:cNvSpPr txBox="1"/>
          <p:nvPr>
            <p:ph idx="7" type="subTitle"/>
          </p:nvPr>
        </p:nvSpPr>
        <p:spPr>
          <a:xfrm>
            <a:off x="5439558" y="1986687"/>
            <a:ext cx="18687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97" name="Google Shape;497;p49"/>
          <p:cNvSpPr txBox="1"/>
          <p:nvPr>
            <p:ph idx="8" type="subTitle"/>
          </p:nvPr>
        </p:nvSpPr>
        <p:spPr>
          <a:xfrm>
            <a:off x="5328925" y="3808995"/>
            <a:ext cx="1868700" cy="5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98" name="Google Shape;498;p49"/>
          <p:cNvSpPr txBox="1"/>
          <p:nvPr>
            <p:ph idx="9" type="subTitle"/>
          </p:nvPr>
        </p:nvSpPr>
        <p:spPr>
          <a:xfrm>
            <a:off x="1132000" y="3592190"/>
            <a:ext cx="1874100" cy="7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99" name="Google Shape;499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25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51926" y="-847134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559554" y="-846583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552472" y="2791087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549518" y="2790536"/>
            <a:ext cx="3136825" cy="28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50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6" name="Google Shape;506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 8">
  <p:cSld name="CUSTOM_26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-914119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399149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1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1" name="Google Shape;511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CUSTOM_57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2"/>
          <p:cNvSpPr txBox="1"/>
          <p:nvPr>
            <p:ph hasCustomPrompt="1" type="title"/>
          </p:nvPr>
        </p:nvSpPr>
        <p:spPr>
          <a:xfrm>
            <a:off x="416676" y="1400075"/>
            <a:ext cx="6014400" cy="17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0"/>
              <a:buNone/>
              <a:defRPr sz="1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14" name="Google Shape;514;p52"/>
          <p:cNvSpPr txBox="1"/>
          <p:nvPr>
            <p:ph idx="1" type="subTitle"/>
          </p:nvPr>
        </p:nvSpPr>
        <p:spPr>
          <a:xfrm>
            <a:off x="540000" y="3159050"/>
            <a:ext cx="6016500" cy="3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515" name="Google Shape;51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43325" y="-1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6843315" y="306759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52"/>
          <p:cNvSpPr/>
          <p:nvPr/>
        </p:nvSpPr>
        <p:spPr>
          <a:xfrm rot="5400000">
            <a:off x="1688625" y="-740500"/>
            <a:ext cx="3179100" cy="6556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9">
  <p:cSld name="CUSTOM_58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3"/>
          <p:cNvSpPr txBox="1"/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521" name="Google Shape;521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53"/>
          <p:cNvSpPr txBox="1"/>
          <p:nvPr>
            <p:ph idx="1" type="subTitle"/>
          </p:nvPr>
        </p:nvSpPr>
        <p:spPr>
          <a:xfrm>
            <a:off x="1758182" y="4055692"/>
            <a:ext cx="12177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3" name="Google Shape;523;p53"/>
          <p:cNvSpPr txBox="1"/>
          <p:nvPr>
            <p:ph idx="2" type="subTitle"/>
          </p:nvPr>
        </p:nvSpPr>
        <p:spPr>
          <a:xfrm>
            <a:off x="3939062" y="4070880"/>
            <a:ext cx="12624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4" name="Google Shape;524;p53"/>
          <p:cNvSpPr txBox="1"/>
          <p:nvPr>
            <p:ph idx="3" type="subTitle"/>
          </p:nvPr>
        </p:nvSpPr>
        <p:spPr>
          <a:xfrm>
            <a:off x="6187500" y="4069687"/>
            <a:ext cx="12624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53"/>
          <p:cNvSpPr txBox="1"/>
          <p:nvPr>
            <p:ph idx="4" type="subTitle"/>
          </p:nvPr>
        </p:nvSpPr>
        <p:spPr>
          <a:xfrm>
            <a:off x="1743882" y="3729155"/>
            <a:ext cx="12177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26" name="Google Shape;526;p53"/>
          <p:cNvSpPr txBox="1"/>
          <p:nvPr>
            <p:ph idx="5" type="subTitle"/>
          </p:nvPr>
        </p:nvSpPr>
        <p:spPr>
          <a:xfrm>
            <a:off x="3939062" y="3733800"/>
            <a:ext cx="1262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27" name="Google Shape;527;p53"/>
          <p:cNvSpPr txBox="1"/>
          <p:nvPr>
            <p:ph idx="6" type="subTitle"/>
          </p:nvPr>
        </p:nvSpPr>
        <p:spPr>
          <a:xfrm>
            <a:off x="6187600" y="3733632"/>
            <a:ext cx="1262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28" name="Google Shape;528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0">
  <p:cSld name="CUSTOM_59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440291" y="376148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94051" y="376148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54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3" name="Google Shape;533;p54"/>
          <p:cNvSpPr txBox="1"/>
          <p:nvPr>
            <p:ph idx="1" type="subTitle"/>
          </p:nvPr>
        </p:nvSpPr>
        <p:spPr>
          <a:xfrm>
            <a:off x="768200" y="2833363"/>
            <a:ext cx="14319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4" name="Google Shape;534;p54"/>
          <p:cNvSpPr txBox="1"/>
          <p:nvPr>
            <p:ph idx="2" type="subTitle"/>
          </p:nvPr>
        </p:nvSpPr>
        <p:spPr>
          <a:xfrm>
            <a:off x="3833745" y="2843907"/>
            <a:ext cx="14319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5" name="Google Shape;535;p54"/>
          <p:cNvSpPr txBox="1"/>
          <p:nvPr>
            <p:ph idx="3" type="subTitle"/>
          </p:nvPr>
        </p:nvSpPr>
        <p:spPr>
          <a:xfrm>
            <a:off x="6910975" y="2835788"/>
            <a:ext cx="14319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6" name="Google Shape;536;p54"/>
          <p:cNvSpPr txBox="1"/>
          <p:nvPr>
            <p:ph idx="4" type="subTitle"/>
          </p:nvPr>
        </p:nvSpPr>
        <p:spPr>
          <a:xfrm>
            <a:off x="768200" y="2472707"/>
            <a:ext cx="14319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37" name="Google Shape;537;p54"/>
          <p:cNvSpPr txBox="1"/>
          <p:nvPr>
            <p:ph idx="5" type="subTitle"/>
          </p:nvPr>
        </p:nvSpPr>
        <p:spPr>
          <a:xfrm>
            <a:off x="3833875" y="2472725"/>
            <a:ext cx="14319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38" name="Google Shape;538;p54"/>
          <p:cNvSpPr txBox="1"/>
          <p:nvPr>
            <p:ph idx="6" type="subTitle"/>
          </p:nvPr>
        </p:nvSpPr>
        <p:spPr>
          <a:xfrm>
            <a:off x="6911111" y="2476132"/>
            <a:ext cx="14319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39" name="Google Shape;539;p54"/>
          <p:cNvSpPr/>
          <p:nvPr/>
        </p:nvSpPr>
        <p:spPr>
          <a:xfrm rot="5400000">
            <a:off x="287567" y="1686614"/>
            <a:ext cx="2394897" cy="2075867"/>
          </a:xfrm>
          <a:custGeom>
            <a:rect b="b" l="l" r="r" t="t"/>
            <a:pathLst>
              <a:path extrusionOk="0" h="27693" w="31949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54"/>
          <p:cNvSpPr/>
          <p:nvPr/>
        </p:nvSpPr>
        <p:spPr>
          <a:xfrm rot="5400000">
            <a:off x="1194834" y="1350189"/>
            <a:ext cx="578916" cy="501797"/>
          </a:xfrm>
          <a:custGeom>
            <a:rect b="b" l="l" r="r" t="t"/>
            <a:pathLst>
              <a:path extrusionOk="0" h="27693" w="31949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54"/>
          <p:cNvSpPr/>
          <p:nvPr/>
        </p:nvSpPr>
        <p:spPr>
          <a:xfrm rot="5400000">
            <a:off x="3385220" y="1686614"/>
            <a:ext cx="2394897" cy="2075867"/>
          </a:xfrm>
          <a:custGeom>
            <a:rect b="b" l="l" r="r" t="t"/>
            <a:pathLst>
              <a:path extrusionOk="0" h="27693" w="31949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54"/>
          <p:cNvSpPr/>
          <p:nvPr/>
        </p:nvSpPr>
        <p:spPr>
          <a:xfrm rot="5400000">
            <a:off x="6415442" y="1686614"/>
            <a:ext cx="2394897" cy="2075867"/>
          </a:xfrm>
          <a:custGeom>
            <a:rect b="b" l="l" r="r" t="t"/>
            <a:pathLst>
              <a:path extrusionOk="0" h="27693" w="31949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54"/>
          <p:cNvSpPr/>
          <p:nvPr/>
        </p:nvSpPr>
        <p:spPr>
          <a:xfrm rot="5400000">
            <a:off x="7328448" y="1350201"/>
            <a:ext cx="578916" cy="501797"/>
          </a:xfrm>
          <a:custGeom>
            <a:rect b="b" l="l" r="r" t="t"/>
            <a:pathLst>
              <a:path extrusionOk="0" h="27693" w="31949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54"/>
          <p:cNvSpPr/>
          <p:nvPr/>
        </p:nvSpPr>
        <p:spPr>
          <a:xfrm rot="5400000">
            <a:off x="4290136" y="1350201"/>
            <a:ext cx="578916" cy="501797"/>
          </a:xfrm>
          <a:custGeom>
            <a:rect b="b" l="l" r="r" t="t"/>
            <a:pathLst>
              <a:path extrusionOk="0" h="27693" w="31949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5" name="Google Shape;54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810644" y="-1661952"/>
            <a:ext cx="3711324" cy="3348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7">
  <p:cSld name="CUSTOM_60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55"/>
          <p:cNvSpPr txBox="1"/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0" name="Google Shape;550;p55"/>
          <p:cNvSpPr txBox="1"/>
          <p:nvPr>
            <p:ph idx="2" type="ctrTitle"/>
          </p:nvPr>
        </p:nvSpPr>
        <p:spPr>
          <a:xfrm>
            <a:off x="2393800" y="3851557"/>
            <a:ext cx="1231200" cy="3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51" name="Google Shape;551;p55"/>
          <p:cNvSpPr txBox="1"/>
          <p:nvPr>
            <p:ph idx="1" type="subTitle"/>
          </p:nvPr>
        </p:nvSpPr>
        <p:spPr>
          <a:xfrm>
            <a:off x="2393800" y="4112538"/>
            <a:ext cx="12312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52" name="Google Shape;552;p55"/>
          <p:cNvSpPr txBox="1"/>
          <p:nvPr>
            <p:ph idx="3" type="ctrTitle"/>
          </p:nvPr>
        </p:nvSpPr>
        <p:spPr>
          <a:xfrm>
            <a:off x="4454450" y="3859775"/>
            <a:ext cx="1231200" cy="3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53" name="Google Shape;553;p55"/>
          <p:cNvSpPr txBox="1"/>
          <p:nvPr>
            <p:ph idx="4" type="subTitle"/>
          </p:nvPr>
        </p:nvSpPr>
        <p:spPr>
          <a:xfrm>
            <a:off x="4454600" y="4111838"/>
            <a:ext cx="12312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54" name="Google Shape;554;p55"/>
          <p:cNvSpPr txBox="1"/>
          <p:nvPr>
            <p:ph idx="5" type="ctrTitle"/>
          </p:nvPr>
        </p:nvSpPr>
        <p:spPr>
          <a:xfrm>
            <a:off x="3443775" y="1362901"/>
            <a:ext cx="1231200" cy="3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55" name="Google Shape;555;p55"/>
          <p:cNvSpPr txBox="1"/>
          <p:nvPr>
            <p:ph idx="6" type="subTitle"/>
          </p:nvPr>
        </p:nvSpPr>
        <p:spPr>
          <a:xfrm>
            <a:off x="3443626" y="1656449"/>
            <a:ext cx="12312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56" name="Google Shape;556;p55"/>
          <p:cNvSpPr txBox="1"/>
          <p:nvPr>
            <p:ph idx="7" type="ctrTitle"/>
          </p:nvPr>
        </p:nvSpPr>
        <p:spPr>
          <a:xfrm>
            <a:off x="5498425" y="1361363"/>
            <a:ext cx="1231200" cy="3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57" name="Google Shape;557;p55"/>
          <p:cNvSpPr txBox="1"/>
          <p:nvPr>
            <p:ph idx="8" type="subTitle"/>
          </p:nvPr>
        </p:nvSpPr>
        <p:spPr>
          <a:xfrm>
            <a:off x="5498325" y="1654912"/>
            <a:ext cx="12312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58" name="Google Shape;558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1">
  <p:cSld name="CUSTOM_61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325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56"/>
          <p:cNvSpPr txBox="1"/>
          <p:nvPr>
            <p:ph type="ctrTitle"/>
          </p:nvPr>
        </p:nvSpPr>
        <p:spPr>
          <a:xfrm flipH="1">
            <a:off x="622800" y="454555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63" name="Google Shape;563;p56"/>
          <p:cNvSpPr txBox="1"/>
          <p:nvPr>
            <p:ph idx="1" type="subTitle"/>
          </p:nvPr>
        </p:nvSpPr>
        <p:spPr>
          <a:xfrm>
            <a:off x="1573144" y="1489382"/>
            <a:ext cx="1555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4" name="Google Shape;564;p56"/>
          <p:cNvSpPr txBox="1"/>
          <p:nvPr>
            <p:ph idx="2" type="subTitle"/>
          </p:nvPr>
        </p:nvSpPr>
        <p:spPr>
          <a:xfrm>
            <a:off x="3787682" y="1491020"/>
            <a:ext cx="1555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5" name="Google Shape;565;p56"/>
          <p:cNvSpPr txBox="1"/>
          <p:nvPr>
            <p:ph idx="3" type="subTitle"/>
          </p:nvPr>
        </p:nvSpPr>
        <p:spPr>
          <a:xfrm>
            <a:off x="6064122" y="1493420"/>
            <a:ext cx="1555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6" name="Google Shape;566;p56"/>
          <p:cNvSpPr txBox="1"/>
          <p:nvPr>
            <p:ph idx="4" type="subTitle"/>
          </p:nvPr>
        </p:nvSpPr>
        <p:spPr>
          <a:xfrm>
            <a:off x="1573145" y="1060472"/>
            <a:ext cx="15558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67" name="Google Shape;567;p56"/>
          <p:cNvSpPr txBox="1"/>
          <p:nvPr>
            <p:ph idx="5" type="subTitle"/>
          </p:nvPr>
        </p:nvSpPr>
        <p:spPr>
          <a:xfrm>
            <a:off x="3787824" y="1072622"/>
            <a:ext cx="15558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68" name="Google Shape;568;p56"/>
          <p:cNvSpPr txBox="1"/>
          <p:nvPr>
            <p:ph idx="6" type="subTitle"/>
          </p:nvPr>
        </p:nvSpPr>
        <p:spPr>
          <a:xfrm>
            <a:off x="6064270" y="1065510"/>
            <a:ext cx="15558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69" name="Google Shape;569;p56"/>
          <p:cNvSpPr txBox="1"/>
          <p:nvPr>
            <p:ph idx="7" type="subTitle"/>
          </p:nvPr>
        </p:nvSpPr>
        <p:spPr>
          <a:xfrm>
            <a:off x="2692432" y="4157457"/>
            <a:ext cx="1555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0" name="Google Shape;570;p56"/>
          <p:cNvSpPr txBox="1"/>
          <p:nvPr>
            <p:ph idx="8" type="subTitle"/>
          </p:nvPr>
        </p:nvSpPr>
        <p:spPr>
          <a:xfrm>
            <a:off x="4906147" y="4138965"/>
            <a:ext cx="1555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1" name="Google Shape;571;p56"/>
          <p:cNvSpPr txBox="1"/>
          <p:nvPr>
            <p:ph idx="9" type="subTitle"/>
          </p:nvPr>
        </p:nvSpPr>
        <p:spPr>
          <a:xfrm>
            <a:off x="2692574" y="3773185"/>
            <a:ext cx="15558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72" name="Google Shape;572;p56"/>
          <p:cNvSpPr txBox="1"/>
          <p:nvPr>
            <p:ph idx="13" type="subTitle"/>
          </p:nvPr>
        </p:nvSpPr>
        <p:spPr>
          <a:xfrm>
            <a:off x="4906295" y="3774166"/>
            <a:ext cx="15558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73" name="Google Shape;573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CUSTOM_27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7"/>
          <p:cNvSpPr txBox="1"/>
          <p:nvPr>
            <p:ph type="ctrTitle"/>
          </p:nvPr>
        </p:nvSpPr>
        <p:spPr>
          <a:xfrm flipH="1">
            <a:off x="457200" y="444899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576" name="Google Shape;576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31825" y="-795109"/>
            <a:ext cx="3139825" cy="283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820369" y="-796531"/>
            <a:ext cx="3139825" cy="2833049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CUSTOM_28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51926" y="-466134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559554" y="-465583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552472" y="2791087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549518" y="2790536"/>
            <a:ext cx="3136825" cy="28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58"/>
          <p:cNvSpPr txBox="1"/>
          <p:nvPr>
            <p:ph type="ctrTitle"/>
          </p:nvPr>
        </p:nvSpPr>
        <p:spPr>
          <a:xfrm flipH="1">
            <a:off x="540000" y="507400"/>
            <a:ext cx="80640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5" name="Google Shape;585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">
  <p:cSld name="CUSTOM_34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9"/>
          <p:cNvSpPr txBox="1"/>
          <p:nvPr>
            <p:ph type="ctrTitle"/>
          </p:nvPr>
        </p:nvSpPr>
        <p:spPr>
          <a:xfrm flipH="1">
            <a:off x="457200" y="1443030"/>
            <a:ext cx="26958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8" name="Google Shape;588;p59"/>
          <p:cNvSpPr txBox="1"/>
          <p:nvPr/>
        </p:nvSpPr>
        <p:spPr>
          <a:xfrm>
            <a:off x="3390325" y="2006627"/>
            <a:ext cx="28182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CREDITS: This presentation template was created by</a:t>
            </a:r>
            <a:r>
              <a:rPr lang="en"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 Condensed Light"/>
                <a:ea typeface="Roboto Condensed Light"/>
                <a:cs typeface="Roboto Condensed Light"/>
                <a:sym typeface="Roboto Condensed Ligh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including icons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 Condensed Light"/>
                <a:ea typeface="Roboto Condensed Light"/>
                <a:cs typeface="Roboto Condensed Light"/>
                <a:sym typeface="Roboto Condense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infographics &amp; images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 Condensed Light"/>
                <a:ea typeface="Roboto Condensed Light"/>
                <a:cs typeface="Roboto Condensed Light"/>
                <a:sym typeface="Roboto Condense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1371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D80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D80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D809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1"/>
              </a:solidFill>
              <a:highlight>
                <a:srgbClr val="FFD80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59"/>
          <p:cNvSpPr txBox="1"/>
          <p:nvPr>
            <p:ph idx="1" type="subTitle"/>
          </p:nvPr>
        </p:nvSpPr>
        <p:spPr>
          <a:xfrm>
            <a:off x="457188" y="2038763"/>
            <a:ext cx="2695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pic>
        <p:nvPicPr>
          <p:cNvPr id="590" name="Google Shape;590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071778" y="-1374105"/>
            <a:ext cx="4072221" cy="3674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5058749" y="2776786"/>
            <a:ext cx="4072221" cy="3674359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CUSTOM_29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0"/>
          <p:cNvSpPr txBox="1"/>
          <p:nvPr>
            <p:ph type="ctrTitle"/>
          </p:nvPr>
        </p:nvSpPr>
        <p:spPr>
          <a:xfrm flipH="1">
            <a:off x="540000" y="456180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595" name="Google Shape;595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770966" y="39734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918995" y="3893567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769829" y="-21083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29394" y="-13091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CUSTOM_62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1"/>
          <p:cNvSpPr txBox="1"/>
          <p:nvPr>
            <p:ph type="ctrTitle"/>
          </p:nvPr>
        </p:nvSpPr>
        <p:spPr>
          <a:xfrm flipH="1">
            <a:off x="540000" y="456180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602" name="Google Shape;602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769829" y="-21083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29394" y="-13091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9">
  <p:cSld name="CUSTOM_33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2"/>
          <p:cNvSpPr txBox="1"/>
          <p:nvPr>
            <p:ph type="ctrTitle"/>
          </p:nvPr>
        </p:nvSpPr>
        <p:spPr>
          <a:xfrm flipH="1">
            <a:off x="540000" y="455570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07" name="Google Shape;607;p62"/>
          <p:cNvSpPr txBox="1"/>
          <p:nvPr>
            <p:ph idx="1" type="subTitle"/>
          </p:nvPr>
        </p:nvSpPr>
        <p:spPr>
          <a:xfrm>
            <a:off x="2588100" y="2210650"/>
            <a:ext cx="3967800" cy="18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08" name="Google Shape;608;p62">
            <a:hlinkClick r:id="rId2"/>
          </p:cNvPr>
          <p:cNvSpPr txBox="1"/>
          <p:nvPr>
            <p:ph idx="2" type="ctrTitle"/>
          </p:nvPr>
        </p:nvSpPr>
        <p:spPr>
          <a:xfrm>
            <a:off x="3224100" y="1799442"/>
            <a:ext cx="2695800" cy="2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609" name="Google Shape;60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247964" y="32876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984228" y="3207767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41_1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247964" y="31352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984228" y="3055367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quada One"/>
              <a:buNone/>
              <a:defRPr sz="30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 Light"/>
              <a:buChar char="●"/>
              <a:defRPr sz="18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4"/>
          <p:cNvSpPr txBox="1"/>
          <p:nvPr>
            <p:ph type="title"/>
          </p:nvPr>
        </p:nvSpPr>
        <p:spPr>
          <a:xfrm>
            <a:off x="457200" y="923975"/>
            <a:ext cx="8229600" cy="215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Analyse der Online-Programmierschule</a:t>
            </a:r>
            <a:endParaRPr sz="4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21" name="Google Shape;62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3700" y="3405525"/>
            <a:ext cx="1628400" cy="1628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22" name="Google Shape;622;p64"/>
          <p:cNvSpPr txBox="1"/>
          <p:nvPr>
            <p:ph idx="12" type="sldNum"/>
          </p:nvPr>
        </p:nvSpPr>
        <p:spPr>
          <a:xfrm>
            <a:off x="8362773" y="4545927"/>
            <a:ext cx="6585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&lt;#&gt;/24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5"/>
          <p:cNvSpPr txBox="1"/>
          <p:nvPr>
            <p:ph idx="8" type="ctrTitle"/>
          </p:nvPr>
        </p:nvSpPr>
        <p:spPr>
          <a:xfrm>
            <a:off x="62950" y="156525"/>
            <a:ext cx="8763000" cy="7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Vom CRM-Datensatz zum Geschäftserfolg</a:t>
            </a:r>
            <a:endParaRPr sz="2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28" name="Google Shape;628;p65"/>
          <p:cNvGrpSpPr/>
          <p:nvPr/>
        </p:nvGrpSpPr>
        <p:grpSpPr>
          <a:xfrm>
            <a:off x="2009868" y="751500"/>
            <a:ext cx="4552284" cy="4255798"/>
            <a:chOff x="926675" y="94223"/>
            <a:chExt cx="5755100" cy="5376877"/>
          </a:xfrm>
        </p:grpSpPr>
        <p:sp>
          <p:nvSpPr>
            <p:cNvPr id="629" name="Google Shape;629;p65"/>
            <p:cNvSpPr/>
            <p:nvPr/>
          </p:nvSpPr>
          <p:spPr>
            <a:xfrm>
              <a:off x="2235475" y="2161100"/>
              <a:ext cx="3138650" cy="1012350"/>
            </a:xfrm>
            <a:custGeom>
              <a:rect b="b" l="l" r="r" t="t"/>
              <a:pathLst>
                <a:path extrusionOk="0" h="40494" w="125546">
                  <a:moveTo>
                    <a:pt x="22196" y="1"/>
                  </a:moveTo>
                  <a:lnTo>
                    <a:pt x="8133" y="25661"/>
                  </a:lnTo>
                  <a:lnTo>
                    <a:pt x="1" y="40494"/>
                  </a:lnTo>
                  <a:lnTo>
                    <a:pt x="125545" y="40494"/>
                  </a:lnTo>
                  <a:lnTo>
                    <a:pt x="117413" y="25661"/>
                  </a:lnTo>
                  <a:lnTo>
                    <a:pt x="103351" y="1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anchorCtr="0" anchor="ctr" bIns="407650" lIns="407650" spcFirstLastPara="1" rIns="407650" wrap="square" tIns="407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Beschreibende Statistik</a:t>
              </a:r>
              <a:endParaRPr sz="15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630" name="Google Shape;630;p65"/>
            <p:cNvSpPr/>
            <p:nvPr/>
          </p:nvSpPr>
          <p:spPr>
            <a:xfrm>
              <a:off x="2495395" y="94223"/>
              <a:ext cx="2607169" cy="2152922"/>
            </a:xfrm>
            <a:custGeom>
              <a:rect b="b" l="l" r="r" t="t"/>
              <a:pathLst>
                <a:path extrusionOk="0" h="74009" w="78476">
                  <a:moveTo>
                    <a:pt x="39246" y="0"/>
                  </a:moveTo>
                  <a:lnTo>
                    <a:pt x="1" y="74009"/>
                  </a:lnTo>
                  <a:lnTo>
                    <a:pt x="78476" y="74009"/>
                  </a:lnTo>
                  <a:lnTo>
                    <a:pt x="39246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anchorCtr="0" anchor="ctr" bIns="407650" lIns="407650" spcFirstLastPara="1" rIns="407650" wrap="square" tIns="10515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Datenbereinigung und Vorbereitung</a:t>
              </a:r>
              <a:endPara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631" name="Google Shape;631;p65"/>
            <p:cNvSpPr/>
            <p:nvPr/>
          </p:nvSpPr>
          <p:spPr>
            <a:xfrm>
              <a:off x="926675" y="4357100"/>
              <a:ext cx="5755100" cy="1114000"/>
            </a:xfrm>
            <a:custGeom>
              <a:rect b="b" l="l" r="r" t="t"/>
              <a:pathLst>
                <a:path extrusionOk="0" h="44560" w="230204">
                  <a:moveTo>
                    <a:pt x="25737" y="1"/>
                  </a:moveTo>
                  <a:lnTo>
                    <a:pt x="0" y="44560"/>
                  </a:lnTo>
                  <a:lnTo>
                    <a:pt x="230204" y="44560"/>
                  </a:lnTo>
                  <a:lnTo>
                    <a:pt x="20446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anchorCtr="0" anchor="ctr" bIns="407650" lIns="407650" spcFirstLastPara="1" rIns="407650" wrap="square" tIns="407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Unit-Economics und Wachstumspotenziale</a:t>
              </a:r>
              <a:endParaRPr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632" name="Google Shape;632;p65"/>
            <p:cNvSpPr/>
            <p:nvPr/>
          </p:nvSpPr>
          <p:spPr>
            <a:xfrm>
              <a:off x="1621700" y="3256600"/>
              <a:ext cx="4370050" cy="1006950"/>
            </a:xfrm>
            <a:custGeom>
              <a:rect b="b" l="l" r="r" t="t"/>
              <a:pathLst>
                <a:path extrusionOk="0" h="40278" w="174802">
                  <a:moveTo>
                    <a:pt x="22750" y="1"/>
                  </a:moveTo>
                  <a:lnTo>
                    <a:pt x="0" y="40278"/>
                  </a:lnTo>
                  <a:lnTo>
                    <a:pt x="174802" y="40278"/>
                  </a:lnTo>
                  <a:lnTo>
                    <a:pt x="152053" y="1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anchorCtr="0" anchor="ctr" bIns="407650" lIns="407650" spcFirstLastPara="1" rIns="407650" wrap="square" tIns="407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Analyse der Geschäftsprozesse</a:t>
              </a:r>
              <a:endParaRPr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633" name="Google Shape;633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6"/>
          <p:cNvSpPr txBox="1"/>
          <p:nvPr>
            <p:ph type="ctrTitle"/>
          </p:nvPr>
        </p:nvSpPr>
        <p:spPr>
          <a:xfrm flipH="1">
            <a:off x="104825" y="67275"/>
            <a:ext cx="8764800" cy="11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Datenbereinigung und Vorbereitung</a:t>
            </a:r>
            <a:endParaRPr sz="2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9" name="Google Shape;639;p66"/>
          <p:cNvSpPr txBox="1"/>
          <p:nvPr>
            <p:ph idx="1" type="subTitle"/>
          </p:nvPr>
        </p:nvSpPr>
        <p:spPr>
          <a:xfrm>
            <a:off x="104825" y="1047650"/>
            <a:ext cx="4509000" cy="3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Wichtige Schritte der Datenverarbeitung: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Datentypen anpassen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Umgang mit Datenlücken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Datenbereinigung: Dubletten und fehlerhafte Datensätze wurden entfernt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Gruppierung &amp; Segmentierung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40" name="Google Shape;64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8925" y="720988"/>
            <a:ext cx="2560575" cy="12320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41" name="Google Shape;641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4700" y="3498925"/>
            <a:ext cx="2115700" cy="1433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42" name="Google Shape;642;p66"/>
          <p:cNvPicPr preferRelativeResize="0"/>
          <p:nvPr/>
        </p:nvPicPr>
        <p:blipFill rotWithShape="1">
          <a:blip r:embed="rId5">
            <a:alphaModFix/>
          </a:blip>
          <a:srcRect b="0" l="-1810" r="1810" t="0"/>
          <a:stretch/>
        </p:blipFill>
        <p:spPr>
          <a:xfrm>
            <a:off x="6057175" y="2071012"/>
            <a:ext cx="2407774" cy="130992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43" name="Google Shape;643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7"/>
          <p:cNvSpPr txBox="1"/>
          <p:nvPr>
            <p:ph type="ctrTitle"/>
          </p:nvPr>
        </p:nvSpPr>
        <p:spPr>
          <a:xfrm>
            <a:off x="2170650" y="-288375"/>
            <a:ext cx="5514000" cy="10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Datenbereinigung und Vorbereitung</a:t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49" name="Google Shape;649;p67"/>
          <p:cNvPicPr preferRelativeResize="0"/>
          <p:nvPr/>
        </p:nvPicPr>
        <p:blipFill rotWithShape="1">
          <a:blip r:embed="rId3">
            <a:alphaModFix/>
          </a:blip>
          <a:srcRect b="0" l="3677" r="3936" t="0"/>
          <a:stretch/>
        </p:blipFill>
        <p:spPr>
          <a:xfrm>
            <a:off x="542300" y="1104025"/>
            <a:ext cx="3398775" cy="919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50" name="Google Shape;650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250" y="2131575"/>
            <a:ext cx="3302125" cy="2788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51" name="Google Shape;651;p67"/>
          <p:cNvSpPr txBox="1"/>
          <p:nvPr/>
        </p:nvSpPr>
        <p:spPr>
          <a:xfrm>
            <a:off x="4334325" y="734025"/>
            <a:ext cx="4246800" cy="4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Analyse der Anrufe (Call-Effizienz)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Großer Unterschied bei den Werten: Der Durchschnitt (2,75 Min.) Das heißt: Die meisten Anrufe dauern nur 8 Sekunden (schnelle Abbrüche).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Problem der "Null-Anrufe": Der häufigste Wert ist 0 Sekunden. Viele Versuche führen zu keinem echten Gespräch.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Erfolgsquote: Trotz der kurzen Dauer haben 73,7 % den Status „Attended“ (erreicht).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2" name="Google Shape;652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68"/>
          <p:cNvPicPr preferRelativeResize="0"/>
          <p:nvPr/>
        </p:nvPicPr>
        <p:blipFill rotWithShape="1">
          <a:blip r:embed="rId3">
            <a:alphaModFix/>
          </a:blip>
          <a:srcRect b="7347" l="2732" r="4649" t="0"/>
          <a:stretch/>
        </p:blipFill>
        <p:spPr>
          <a:xfrm>
            <a:off x="565513" y="803950"/>
            <a:ext cx="3128376" cy="1098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58" name="Google Shape;658;p68"/>
          <p:cNvPicPr preferRelativeResize="0"/>
          <p:nvPr/>
        </p:nvPicPr>
        <p:blipFill rotWithShape="1">
          <a:blip r:embed="rId4">
            <a:alphaModFix/>
          </a:blip>
          <a:srcRect b="7478" l="7330" r="5410" t="1322"/>
          <a:stretch/>
        </p:blipFill>
        <p:spPr>
          <a:xfrm>
            <a:off x="478450" y="2018600"/>
            <a:ext cx="3302500" cy="2901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59" name="Google Shape;659;p68"/>
          <p:cNvSpPr txBox="1"/>
          <p:nvPr/>
        </p:nvSpPr>
        <p:spPr>
          <a:xfrm>
            <a:off x="4753775" y="1022425"/>
            <a:ext cx="3600300" cy="3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Marketing: Kosten und Kanäle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1. Anomalien bei den Kosten: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Große Differenz: Der Durchschnitt ($7,2) ist 12-mal höher als der Median ($0,5).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2. Traffic-Struktur: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Dominanz: Facebook (46,8 %) und TikTok (14,8 %) liefern über 60 % der Leads.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0" name="Google Shape;660;p68"/>
          <p:cNvSpPr txBox="1"/>
          <p:nvPr>
            <p:ph type="ctrTitle"/>
          </p:nvPr>
        </p:nvSpPr>
        <p:spPr>
          <a:xfrm>
            <a:off x="2214350" y="-52450"/>
            <a:ext cx="55140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Datenbereinigung und Vorbereitung</a:t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1" name="Google Shape;661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69"/>
          <p:cNvSpPr txBox="1"/>
          <p:nvPr>
            <p:ph idx="4294967295" type="ctrTitle"/>
          </p:nvPr>
        </p:nvSpPr>
        <p:spPr>
          <a:xfrm>
            <a:off x="2214350" y="-52450"/>
            <a:ext cx="55140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Datenbereinigung und Vorbereitung</a:t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67" name="Google Shape;667;p69"/>
          <p:cNvPicPr preferRelativeResize="0"/>
          <p:nvPr/>
        </p:nvPicPr>
        <p:blipFill rotWithShape="1">
          <a:blip r:embed="rId3">
            <a:alphaModFix/>
          </a:blip>
          <a:srcRect b="0" l="0" r="1942" t="0"/>
          <a:stretch/>
        </p:blipFill>
        <p:spPr>
          <a:xfrm>
            <a:off x="5225650" y="1064925"/>
            <a:ext cx="3207025" cy="118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68" name="Google Shape;668;p69"/>
          <p:cNvPicPr preferRelativeResize="0"/>
          <p:nvPr/>
        </p:nvPicPr>
        <p:blipFill rotWithShape="1">
          <a:blip r:embed="rId4">
            <a:alphaModFix/>
          </a:blip>
          <a:srcRect b="0" l="1852" r="1698" t="0"/>
          <a:stretch/>
        </p:blipFill>
        <p:spPr>
          <a:xfrm>
            <a:off x="4849875" y="2342925"/>
            <a:ext cx="3958576" cy="2420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69" name="Google Shape;669;p69"/>
          <p:cNvSpPr txBox="1"/>
          <p:nvPr/>
        </p:nvSpPr>
        <p:spPr>
          <a:xfrm>
            <a:off x="141700" y="1274125"/>
            <a:ext cx="4264500" cy="24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Kern-Insights: Funnel, Sales und Produkt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Problem bei der Conversion: Nur 4 % (840) der Deals sind erfolgreich. Obwohl die Erreichbarkeit hoch ist (74 %)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Webinare: Die höchste Qualität kommt von Webinaren (6,9 % Conversion). 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0" name="Google Shape;670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70"/>
          <p:cNvSpPr txBox="1"/>
          <p:nvPr>
            <p:ph idx="4294967295" type="ctrTitle"/>
          </p:nvPr>
        </p:nvSpPr>
        <p:spPr>
          <a:xfrm>
            <a:off x="2214350" y="-52450"/>
            <a:ext cx="55140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Datenbereinigung und Vorbereitung</a:t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6" name="Google Shape;676;p70"/>
          <p:cNvSpPr txBox="1"/>
          <p:nvPr/>
        </p:nvSpPr>
        <p:spPr>
          <a:xfrm>
            <a:off x="166075" y="828600"/>
            <a:ext cx="4377900" cy="3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Lead-Scoring und Kanal-Qualität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Top-Segment (Kategorie A): Eine Conversion-Rate von 33 %. Das є 8-mal höher als der Durchschnitt. Das Scoring funktioniert perfekt!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Unrentable Gruppen (D, E, F): Fast 0 % Conversion. Hier verschwenden wir aktuell das Budget.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Marketing-Kanäle: Facebook und Google liefern die meisten hochwertigen Anfragen (Kategorie A-High).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77" name="Google Shape;677;p70"/>
          <p:cNvPicPr preferRelativeResize="0"/>
          <p:nvPr/>
        </p:nvPicPr>
        <p:blipFill rotWithShape="1">
          <a:blip r:embed="rId3">
            <a:alphaModFix/>
          </a:blip>
          <a:srcRect b="0" l="0" r="10354" t="2629"/>
          <a:stretch/>
        </p:blipFill>
        <p:spPr>
          <a:xfrm>
            <a:off x="5037375" y="629175"/>
            <a:ext cx="3500177" cy="18634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78" name="Google Shape;678;p70"/>
          <p:cNvPicPr preferRelativeResize="0"/>
          <p:nvPr/>
        </p:nvPicPr>
        <p:blipFill rotWithShape="1">
          <a:blip r:embed="rId4">
            <a:alphaModFix/>
          </a:blip>
          <a:srcRect b="0" l="2883" r="1670" t="0"/>
          <a:stretch/>
        </p:blipFill>
        <p:spPr>
          <a:xfrm>
            <a:off x="4830025" y="2592575"/>
            <a:ext cx="3914874" cy="2346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79" name="Google Shape;679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1"/>
          <p:cNvSpPr txBox="1"/>
          <p:nvPr>
            <p:ph idx="4294967295" type="ctrTitle"/>
          </p:nvPr>
        </p:nvSpPr>
        <p:spPr>
          <a:xfrm>
            <a:off x="2214350" y="-52450"/>
            <a:ext cx="55140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Datenbereinigung und Vorbereitung</a:t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85" name="Google Shape;685;p71"/>
          <p:cNvSpPr txBox="1"/>
          <p:nvPr/>
        </p:nvSpPr>
        <p:spPr>
          <a:xfrm>
            <a:off x="203350" y="1551900"/>
            <a:ext cx="4089000" cy="18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Audit des Funnels: Wo verlieren wir Geld?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Verlust der Datenbank (73 %): 15.741 Deals gehen verloren (Status: Lost). Das ist ein riesiges Potenzial, das wir aktuell nicht nutzen.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86" name="Google Shape;686;p71" title="Знімок екрана 2026-04-01 004815.png"/>
          <p:cNvPicPr preferRelativeResize="0"/>
          <p:nvPr/>
        </p:nvPicPr>
        <p:blipFill rotWithShape="1">
          <a:blip r:embed="rId3">
            <a:alphaModFix/>
          </a:blip>
          <a:srcRect b="0" l="-1085" r="-1228" t="0"/>
          <a:stretch/>
        </p:blipFill>
        <p:spPr>
          <a:xfrm>
            <a:off x="4473275" y="827925"/>
            <a:ext cx="4337449" cy="30474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87" name="Google Shape;687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2"/>
          <p:cNvSpPr txBox="1"/>
          <p:nvPr>
            <p:ph type="ctrTitle"/>
          </p:nvPr>
        </p:nvSpPr>
        <p:spPr>
          <a:xfrm>
            <a:off x="1720900" y="78500"/>
            <a:ext cx="6160800" cy="9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Datenbereinigung und Vorbereitung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93" name="Google Shape;69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5800" y="1929500"/>
            <a:ext cx="3080700" cy="15996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72000"/>
              </a:srgbClr>
            </a:outerShdw>
          </a:effectLst>
        </p:spPr>
      </p:pic>
      <p:sp>
        <p:nvSpPr>
          <p:cNvPr id="694" name="Google Shape;694;p72"/>
          <p:cNvSpPr txBox="1"/>
          <p:nvPr/>
        </p:nvSpPr>
        <p:spPr>
          <a:xfrm>
            <a:off x="218875" y="24280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Analyse der Zeitreihen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95" name="Google Shape;695;p72"/>
          <p:cNvSpPr txBox="1"/>
          <p:nvPr/>
        </p:nvSpPr>
        <p:spPr>
          <a:xfrm>
            <a:off x="5973425" y="10810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Analyse der Kampagnen-Effizienz</a:t>
            </a:r>
            <a:endParaRPr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96" name="Google Shape;696;p72"/>
          <p:cNvSpPr txBox="1"/>
          <p:nvPr/>
        </p:nvSpPr>
        <p:spPr>
          <a:xfrm>
            <a:off x="5614200" y="2923725"/>
            <a:ext cx="3529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Effizienzanalyse des Vertriebsteams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97" name="Google Shape;697;p72"/>
          <p:cNvSpPr txBox="1"/>
          <p:nvPr/>
        </p:nvSpPr>
        <p:spPr>
          <a:xfrm>
            <a:off x="1720900" y="1048813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Analyse der Zahlungen und Produkte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98" name="Google Shape;698;p72"/>
          <p:cNvSpPr txBox="1"/>
          <p:nvPr/>
        </p:nvSpPr>
        <p:spPr>
          <a:xfrm>
            <a:off x="1913775" y="41167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Geografische Analyse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99" name="Google Shape;699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3"/>
          <p:cNvSpPr txBox="1"/>
          <p:nvPr>
            <p:ph idx="4294967295" type="ctrTitle"/>
          </p:nvPr>
        </p:nvSpPr>
        <p:spPr>
          <a:xfrm>
            <a:off x="2022100" y="-69925"/>
            <a:ext cx="55140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Analyse der Zeitreihen</a:t>
            </a:r>
            <a:endParaRPr sz="27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05" name="Google Shape;705;p73" title="Знімок екрана 2026-04-01 010440.png"/>
          <p:cNvPicPr preferRelativeResize="0"/>
          <p:nvPr/>
        </p:nvPicPr>
        <p:blipFill rotWithShape="1">
          <a:blip r:embed="rId3">
            <a:alphaModFix/>
          </a:blip>
          <a:srcRect b="0" l="-3546" r="6665" t="0"/>
          <a:stretch/>
        </p:blipFill>
        <p:spPr>
          <a:xfrm>
            <a:off x="488775" y="3292075"/>
            <a:ext cx="7882152" cy="16097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06" name="Google Shape;706;p73"/>
          <p:cNvSpPr txBox="1"/>
          <p:nvPr/>
        </p:nvSpPr>
        <p:spPr>
          <a:xfrm>
            <a:off x="691550" y="584925"/>
            <a:ext cx="7476600" cy="28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Zeitreihen-Analyse 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Allgemeiner Trend: Von Juni 2023 bis April 2024 gab es ein stetiges Wachstum. Der Peak war im April 2024 mit 3.082 Deals und 13.328 Anrufen.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Starker Rückgang: Nach April sind die Zahlen drastisch gesunken. Bis Juni 2024 hat sich die Anzahl der Anrufe im Vergleich zum Peak fast hhochwertigsten Leads.albiert.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707" name="Google Shape;707;p73"/>
          <p:cNvGrpSpPr/>
          <p:nvPr/>
        </p:nvGrpSpPr>
        <p:grpSpPr>
          <a:xfrm>
            <a:off x="7728341" y="129550"/>
            <a:ext cx="351024" cy="350079"/>
            <a:chOff x="3859600" y="3591950"/>
            <a:chExt cx="296975" cy="296175"/>
          </a:xfrm>
        </p:grpSpPr>
        <p:sp>
          <p:nvSpPr>
            <p:cNvPr id="708" name="Google Shape;708;p73"/>
            <p:cNvSpPr/>
            <p:nvPr/>
          </p:nvSpPr>
          <p:spPr>
            <a:xfrm>
              <a:off x="4034450" y="3766000"/>
              <a:ext cx="122125" cy="122125"/>
            </a:xfrm>
            <a:custGeom>
              <a:rect b="b" l="l" r="r" t="t"/>
              <a:pathLst>
                <a:path extrusionOk="0" h="4885" w="4885">
                  <a:moveTo>
                    <a:pt x="2395" y="1324"/>
                  </a:moveTo>
                  <a:cubicBezTo>
                    <a:pt x="2616" y="1324"/>
                    <a:pt x="2773" y="1482"/>
                    <a:pt x="2773" y="1702"/>
                  </a:cubicBezTo>
                  <a:lnTo>
                    <a:pt x="2773" y="2049"/>
                  </a:lnTo>
                  <a:lnTo>
                    <a:pt x="3120" y="2049"/>
                  </a:lnTo>
                  <a:cubicBezTo>
                    <a:pt x="3309" y="2049"/>
                    <a:pt x="3466" y="2206"/>
                    <a:pt x="3466" y="2395"/>
                  </a:cubicBezTo>
                  <a:cubicBezTo>
                    <a:pt x="3466" y="2584"/>
                    <a:pt x="3309" y="2742"/>
                    <a:pt x="3120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95"/>
                  </a:cubicBezTo>
                  <a:lnTo>
                    <a:pt x="2049" y="1702"/>
                  </a:lnTo>
                  <a:cubicBezTo>
                    <a:pt x="2049" y="1482"/>
                    <a:pt x="2206" y="1324"/>
                    <a:pt x="2395" y="1324"/>
                  </a:cubicBezTo>
                  <a:close/>
                  <a:moveTo>
                    <a:pt x="2458" y="1"/>
                  </a:moveTo>
                  <a:cubicBezTo>
                    <a:pt x="1104" y="1"/>
                    <a:pt x="1" y="1103"/>
                    <a:pt x="1" y="2427"/>
                  </a:cubicBezTo>
                  <a:cubicBezTo>
                    <a:pt x="1" y="3781"/>
                    <a:pt x="1104" y="4884"/>
                    <a:pt x="2458" y="4884"/>
                  </a:cubicBezTo>
                  <a:cubicBezTo>
                    <a:pt x="3782" y="4884"/>
                    <a:pt x="4884" y="3781"/>
                    <a:pt x="4884" y="2427"/>
                  </a:cubicBezTo>
                  <a:cubicBezTo>
                    <a:pt x="4853" y="1072"/>
                    <a:pt x="3782" y="1"/>
                    <a:pt x="2458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73"/>
            <p:cNvSpPr/>
            <p:nvPr/>
          </p:nvSpPr>
          <p:spPr>
            <a:xfrm>
              <a:off x="3860400" y="3679375"/>
              <a:ext cx="260725" cy="173300"/>
            </a:xfrm>
            <a:custGeom>
              <a:rect b="b" l="l" r="r" t="t"/>
              <a:pathLst>
                <a:path extrusionOk="0" h="6932" w="10429">
                  <a:moveTo>
                    <a:pt x="2426" y="662"/>
                  </a:moveTo>
                  <a:cubicBezTo>
                    <a:pt x="2647" y="662"/>
                    <a:pt x="2804" y="819"/>
                    <a:pt x="2804" y="1008"/>
                  </a:cubicBezTo>
                  <a:cubicBezTo>
                    <a:pt x="2804" y="1197"/>
                    <a:pt x="2647" y="1355"/>
                    <a:pt x="2426" y="1355"/>
                  </a:cubicBezTo>
                  <a:lnTo>
                    <a:pt x="1733" y="1355"/>
                  </a:lnTo>
                  <a:cubicBezTo>
                    <a:pt x="1544" y="1355"/>
                    <a:pt x="1387" y="1197"/>
                    <a:pt x="1387" y="1008"/>
                  </a:cubicBezTo>
                  <a:cubicBezTo>
                    <a:pt x="1387" y="819"/>
                    <a:pt x="1544" y="662"/>
                    <a:pt x="1733" y="662"/>
                  </a:cubicBezTo>
                  <a:close/>
                  <a:moveTo>
                    <a:pt x="4537" y="662"/>
                  </a:moveTo>
                  <a:cubicBezTo>
                    <a:pt x="4726" y="662"/>
                    <a:pt x="4884" y="819"/>
                    <a:pt x="4884" y="1008"/>
                  </a:cubicBezTo>
                  <a:cubicBezTo>
                    <a:pt x="4884" y="1197"/>
                    <a:pt x="4695" y="1355"/>
                    <a:pt x="4537" y="1355"/>
                  </a:cubicBezTo>
                  <a:lnTo>
                    <a:pt x="3812" y="1355"/>
                  </a:lnTo>
                  <a:cubicBezTo>
                    <a:pt x="3623" y="1355"/>
                    <a:pt x="3466" y="1197"/>
                    <a:pt x="3466" y="1008"/>
                  </a:cubicBezTo>
                  <a:cubicBezTo>
                    <a:pt x="3466" y="819"/>
                    <a:pt x="3623" y="662"/>
                    <a:pt x="3812" y="662"/>
                  </a:cubicBezTo>
                  <a:close/>
                  <a:moveTo>
                    <a:pt x="6648" y="662"/>
                  </a:moveTo>
                  <a:cubicBezTo>
                    <a:pt x="6837" y="662"/>
                    <a:pt x="6994" y="819"/>
                    <a:pt x="6994" y="1008"/>
                  </a:cubicBezTo>
                  <a:cubicBezTo>
                    <a:pt x="6994" y="1197"/>
                    <a:pt x="6837" y="1355"/>
                    <a:pt x="6648" y="1355"/>
                  </a:cubicBezTo>
                  <a:lnTo>
                    <a:pt x="5955" y="1355"/>
                  </a:lnTo>
                  <a:cubicBezTo>
                    <a:pt x="5734" y="1355"/>
                    <a:pt x="5577" y="1197"/>
                    <a:pt x="5577" y="1008"/>
                  </a:cubicBezTo>
                  <a:cubicBezTo>
                    <a:pt x="5577" y="819"/>
                    <a:pt x="5734" y="662"/>
                    <a:pt x="5955" y="662"/>
                  </a:cubicBezTo>
                  <a:close/>
                  <a:moveTo>
                    <a:pt x="8727" y="662"/>
                  </a:moveTo>
                  <a:cubicBezTo>
                    <a:pt x="8948" y="662"/>
                    <a:pt x="9105" y="819"/>
                    <a:pt x="9105" y="1008"/>
                  </a:cubicBezTo>
                  <a:cubicBezTo>
                    <a:pt x="9105" y="1197"/>
                    <a:pt x="8948" y="1355"/>
                    <a:pt x="8727" y="1355"/>
                  </a:cubicBezTo>
                  <a:lnTo>
                    <a:pt x="8034" y="1355"/>
                  </a:lnTo>
                  <a:cubicBezTo>
                    <a:pt x="7845" y="1355"/>
                    <a:pt x="7688" y="1197"/>
                    <a:pt x="7688" y="1008"/>
                  </a:cubicBezTo>
                  <a:cubicBezTo>
                    <a:pt x="7688" y="819"/>
                    <a:pt x="7845" y="662"/>
                    <a:pt x="8034" y="662"/>
                  </a:cubicBezTo>
                  <a:close/>
                  <a:moveTo>
                    <a:pt x="2426" y="2080"/>
                  </a:moveTo>
                  <a:cubicBezTo>
                    <a:pt x="2647" y="2080"/>
                    <a:pt x="2804" y="2237"/>
                    <a:pt x="2804" y="2426"/>
                  </a:cubicBezTo>
                  <a:cubicBezTo>
                    <a:pt x="2804" y="2647"/>
                    <a:pt x="2647" y="2773"/>
                    <a:pt x="2426" y="2773"/>
                  </a:cubicBezTo>
                  <a:lnTo>
                    <a:pt x="1733" y="2773"/>
                  </a:lnTo>
                  <a:cubicBezTo>
                    <a:pt x="1544" y="2773"/>
                    <a:pt x="1387" y="2647"/>
                    <a:pt x="1387" y="2426"/>
                  </a:cubicBezTo>
                  <a:cubicBezTo>
                    <a:pt x="1387" y="2206"/>
                    <a:pt x="1544" y="2080"/>
                    <a:pt x="1733" y="2080"/>
                  </a:cubicBezTo>
                  <a:close/>
                  <a:moveTo>
                    <a:pt x="4537" y="2080"/>
                  </a:moveTo>
                  <a:cubicBezTo>
                    <a:pt x="4726" y="2080"/>
                    <a:pt x="4884" y="2237"/>
                    <a:pt x="4884" y="2426"/>
                  </a:cubicBezTo>
                  <a:cubicBezTo>
                    <a:pt x="4884" y="2647"/>
                    <a:pt x="4695" y="2773"/>
                    <a:pt x="4537" y="2773"/>
                  </a:cubicBezTo>
                  <a:lnTo>
                    <a:pt x="3812" y="2773"/>
                  </a:lnTo>
                  <a:cubicBezTo>
                    <a:pt x="3623" y="2773"/>
                    <a:pt x="3466" y="2647"/>
                    <a:pt x="3466" y="2426"/>
                  </a:cubicBezTo>
                  <a:cubicBezTo>
                    <a:pt x="3466" y="2206"/>
                    <a:pt x="3623" y="2080"/>
                    <a:pt x="3812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7"/>
                    <a:pt x="6994" y="2426"/>
                  </a:cubicBezTo>
                  <a:cubicBezTo>
                    <a:pt x="6994" y="2647"/>
                    <a:pt x="6837" y="2773"/>
                    <a:pt x="6648" y="2773"/>
                  </a:cubicBezTo>
                  <a:lnTo>
                    <a:pt x="5955" y="2773"/>
                  </a:lnTo>
                  <a:cubicBezTo>
                    <a:pt x="5734" y="2773"/>
                    <a:pt x="5577" y="2647"/>
                    <a:pt x="5577" y="2426"/>
                  </a:cubicBezTo>
                  <a:cubicBezTo>
                    <a:pt x="5577" y="2206"/>
                    <a:pt x="5734" y="2080"/>
                    <a:pt x="5955" y="2080"/>
                  </a:cubicBezTo>
                  <a:close/>
                  <a:moveTo>
                    <a:pt x="8727" y="2080"/>
                  </a:moveTo>
                  <a:cubicBezTo>
                    <a:pt x="8948" y="2080"/>
                    <a:pt x="9105" y="2237"/>
                    <a:pt x="9105" y="2426"/>
                  </a:cubicBezTo>
                  <a:cubicBezTo>
                    <a:pt x="9105" y="2647"/>
                    <a:pt x="8948" y="2773"/>
                    <a:pt x="8727" y="2773"/>
                  </a:cubicBezTo>
                  <a:lnTo>
                    <a:pt x="8034" y="2773"/>
                  </a:lnTo>
                  <a:cubicBezTo>
                    <a:pt x="7845" y="2773"/>
                    <a:pt x="7688" y="2647"/>
                    <a:pt x="7688" y="2426"/>
                  </a:cubicBezTo>
                  <a:cubicBezTo>
                    <a:pt x="7688" y="2206"/>
                    <a:pt x="7845" y="2080"/>
                    <a:pt x="8034" y="2080"/>
                  </a:cubicBezTo>
                  <a:close/>
                  <a:moveTo>
                    <a:pt x="2426" y="3466"/>
                  </a:moveTo>
                  <a:cubicBezTo>
                    <a:pt x="2647" y="3466"/>
                    <a:pt x="2804" y="3623"/>
                    <a:pt x="2804" y="3812"/>
                  </a:cubicBezTo>
                  <a:cubicBezTo>
                    <a:pt x="2804" y="4001"/>
                    <a:pt x="2647" y="4159"/>
                    <a:pt x="2426" y="4159"/>
                  </a:cubicBezTo>
                  <a:lnTo>
                    <a:pt x="1733" y="4159"/>
                  </a:lnTo>
                  <a:cubicBezTo>
                    <a:pt x="1544" y="4159"/>
                    <a:pt x="1387" y="4001"/>
                    <a:pt x="1387" y="3812"/>
                  </a:cubicBezTo>
                  <a:cubicBezTo>
                    <a:pt x="1387" y="3623"/>
                    <a:pt x="1544" y="3466"/>
                    <a:pt x="1733" y="3466"/>
                  </a:cubicBezTo>
                  <a:close/>
                  <a:moveTo>
                    <a:pt x="4537" y="3466"/>
                  </a:moveTo>
                  <a:cubicBezTo>
                    <a:pt x="4726" y="3466"/>
                    <a:pt x="4884" y="3623"/>
                    <a:pt x="4884" y="3812"/>
                  </a:cubicBezTo>
                  <a:cubicBezTo>
                    <a:pt x="4884" y="4001"/>
                    <a:pt x="4695" y="4159"/>
                    <a:pt x="4537" y="4159"/>
                  </a:cubicBezTo>
                  <a:lnTo>
                    <a:pt x="3812" y="4159"/>
                  </a:lnTo>
                  <a:cubicBezTo>
                    <a:pt x="3623" y="4159"/>
                    <a:pt x="3466" y="4001"/>
                    <a:pt x="3466" y="3812"/>
                  </a:cubicBezTo>
                  <a:cubicBezTo>
                    <a:pt x="3466" y="3623"/>
                    <a:pt x="3623" y="3466"/>
                    <a:pt x="3812" y="3466"/>
                  </a:cubicBezTo>
                  <a:close/>
                  <a:moveTo>
                    <a:pt x="6648" y="3466"/>
                  </a:moveTo>
                  <a:cubicBezTo>
                    <a:pt x="6837" y="3466"/>
                    <a:pt x="6994" y="3623"/>
                    <a:pt x="6994" y="3812"/>
                  </a:cubicBezTo>
                  <a:cubicBezTo>
                    <a:pt x="6994" y="4001"/>
                    <a:pt x="6837" y="4159"/>
                    <a:pt x="6648" y="4159"/>
                  </a:cubicBezTo>
                  <a:lnTo>
                    <a:pt x="5955" y="4159"/>
                  </a:lnTo>
                  <a:cubicBezTo>
                    <a:pt x="5734" y="4159"/>
                    <a:pt x="5577" y="4001"/>
                    <a:pt x="5577" y="3812"/>
                  </a:cubicBezTo>
                  <a:cubicBezTo>
                    <a:pt x="5577" y="3623"/>
                    <a:pt x="5734" y="3466"/>
                    <a:pt x="5955" y="3466"/>
                  </a:cubicBezTo>
                  <a:close/>
                  <a:moveTo>
                    <a:pt x="2426" y="4852"/>
                  </a:moveTo>
                  <a:cubicBezTo>
                    <a:pt x="2647" y="4852"/>
                    <a:pt x="2804" y="5010"/>
                    <a:pt x="2804" y="5199"/>
                  </a:cubicBezTo>
                  <a:cubicBezTo>
                    <a:pt x="2804" y="5388"/>
                    <a:pt x="2647" y="5545"/>
                    <a:pt x="2426" y="5545"/>
                  </a:cubicBezTo>
                  <a:lnTo>
                    <a:pt x="1733" y="5545"/>
                  </a:lnTo>
                  <a:cubicBezTo>
                    <a:pt x="1544" y="5545"/>
                    <a:pt x="1387" y="5388"/>
                    <a:pt x="1387" y="5199"/>
                  </a:cubicBezTo>
                  <a:cubicBezTo>
                    <a:pt x="1387" y="5010"/>
                    <a:pt x="1544" y="4852"/>
                    <a:pt x="1733" y="4852"/>
                  </a:cubicBezTo>
                  <a:close/>
                  <a:moveTo>
                    <a:pt x="4537" y="4852"/>
                  </a:moveTo>
                  <a:cubicBezTo>
                    <a:pt x="4726" y="4852"/>
                    <a:pt x="4884" y="5010"/>
                    <a:pt x="4884" y="5199"/>
                  </a:cubicBezTo>
                  <a:cubicBezTo>
                    <a:pt x="4884" y="5388"/>
                    <a:pt x="4695" y="5545"/>
                    <a:pt x="4537" y="5545"/>
                  </a:cubicBezTo>
                  <a:lnTo>
                    <a:pt x="3812" y="5545"/>
                  </a:lnTo>
                  <a:cubicBezTo>
                    <a:pt x="3623" y="5545"/>
                    <a:pt x="3466" y="5388"/>
                    <a:pt x="3466" y="5199"/>
                  </a:cubicBezTo>
                  <a:cubicBezTo>
                    <a:pt x="3466" y="5010"/>
                    <a:pt x="3623" y="4852"/>
                    <a:pt x="3812" y="4852"/>
                  </a:cubicBezTo>
                  <a:close/>
                  <a:moveTo>
                    <a:pt x="0" y="0"/>
                  </a:moveTo>
                  <a:lnTo>
                    <a:pt x="0" y="5892"/>
                  </a:lnTo>
                  <a:cubicBezTo>
                    <a:pt x="0" y="6459"/>
                    <a:pt x="473" y="6931"/>
                    <a:pt x="1071" y="6931"/>
                  </a:cubicBezTo>
                  <a:lnTo>
                    <a:pt x="6490" y="6931"/>
                  </a:lnTo>
                  <a:cubicBezTo>
                    <a:pt x="6364" y="6616"/>
                    <a:pt x="6301" y="6270"/>
                    <a:pt x="6301" y="5892"/>
                  </a:cubicBezTo>
                  <a:cubicBezTo>
                    <a:pt x="6301" y="5797"/>
                    <a:pt x="6333" y="5671"/>
                    <a:pt x="6333" y="5545"/>
                  </a:cubicBezTo>
                  <a:lnTo>
                    <a:pt x="5955" y="5545"/>
                  </a:lnTo>
                  <a:cubicBezTo>
                    <a:pt x="5734" y="5545"/>
                    <a:pt x="5577" y="5388"/>
                    <a:pt x="5577" y="5199"/>
                  </a:cubicBezTo>
                  <a:cubicBezTo>
                    <a:pt x="5577" y="5010"/>
                    <a:pt x="5734" y="4852"/>
                    <a:pt x="5955" y="4852"/>
                  </a:cubicBezTo>
                  <a:lnTo>
                    <a:pt x="6490" y="4852"/>
                  </a:lnTo>
                  <a:cubicBezTo>
                    <a:pt x="6931" y="3623"/>
                    <a:pt x="8066" y="2741"/>
                    <a:pt x="9420" y="2741"/>
                  </a:cubicBezTo>
                  <a:cubicBezTo>
                    <a:pt x="9767" y="2741"/>
                    <a:pt x="10113" y="2836"/>
                    <a:pt x="10428" y="2962"/>
                  </a:cubicBezTo>
                  <a:lnTo>
                    <a:pt x="10428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73"/>
            <p:cNvSpPr/>
            <p:nvPr/>
          </p:nvSpPr>
          <p:spPr>
            <a:xfrm>
              <a:off x="3859600" y="3591950"/>
              <a:ext cx="261525" cy="70900"/>
            </a:xfrm>
            <a:custGeom>
              <a:rect b="b" l="l" r="r" t="t"/>
              <a:pathLst>
                <a:path extrusionOk="0" h="2836" w="10461">
                  <a:moveTo>
                    <a:pt x="1734" y="0"/>
                  </a:moveTo>
                  <a:cubicBezTo>
                    <a:pt x="1513" y="0"/>
                    <a:pt x="1356" y="158"/>
                    <a:pt x="1356" y="347"/>
                  </a:cubicBezTo>
                  <a:lnTo>
                    <a:pt x="1356" y="693"/>
                  </a:lnTo>
                  <a:lnTo>
                    <a:pt x="1009" y="693"/>
                  </a:lnTo>
                  <a:cubicBezTo>
                    <a:pt x="410" y="693"/>
                    <a:pt x="1" y="1166"/>
                    <a:pt x="1" y="1733"/>
                  </a:cubicBezTo>
                  <a:lnTo>
                    <a:pt x="1" y="2836"/>
                  </a:lnTo>
                  <a:lnTo>
                    <a:pt x="10429" y="2836"/>
                  </a:lnTo>
                  <a:lnTo>
                    <a:pt x="10429" y="1733"/>
                  </a:lnTo>
                  <a:lnTo>
                    <a:pt x="10460" y="1733"/>
                  </a:lnTo>
                  <a:cubicBezTo>
                    <a:pt x="10460" y="1134"/>
                    <a:pt x="9988" y="693"/>
                    <a:pt x="9421" y="693"/>
                  </a:cubicBezTo>
                  <a:lnTo>
                    <a:pt x="9074" y="693"/>
                  </a:lnTo>
                  <a:lnTo>
                    <a:pt x="9074" y="347"/>
                  </a:lnTo>
                  <a:cubicBezTo>
                    <a:pt x="9074" y="158"/>
                    <a:pt x="8917" y="0"/>
                    <a:pt x="8728" y="0"/>
                  </a:cubicBezTo>
                  <a:cubicBezTo>
                    <a:pt x="8539" y="0"/>
                    <a:pt x="8381" y="158"/>
                    <a:pt x="8381" y="347"/>
                  </a:cubicBezTo>
                  <a:lnTo>
                    <a:pt x="8381" y="693"/>
                  </a:lnTo>
                  <a:lnTo>
                    <a:pt x="6995" y="693"/>
                  </a:lnTo>
                  <a:lnTo>
                    <a:pt x="6995" y="347"/>
                  </a:lnTo>
                  <a:cubicBezTo>
                    <a:pt x="6995" y="158"/>
                    <a:pt x="6837" y="0"/>
                    <a:pt x="6648" y="0"/>
                  </a:cubicBezTo>
                  <a:cubicBezTo>
                    <a:pt x="6459" y="0"/>
                    <a:pt x="6302" y="158"/>
                    <a:pt x="6302" y="347"/>
                  </a:cubicBezTo>
                  <a:lnTo>
                    <a:pt x="6302" y="693"/>
                  </a:lnTo>
                  <a:lnTo>
                    <a:pt x="4159" y="693"/>
                  </a:lnTo>
                  <a:lnTo>
                    <a:pt x="4159" y="347"/>
                  </a:lnTo>
                  <a:cubicBezTo>
                    <a:pt x="4159" y="158"/>
                    <a:pt x="4002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1" name="Google Shape;711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74"/>
          <p:cNvSpPr txBox="1"/>
          <p:nvPr>
            <p:ph idx="4294967295" type="ctrTitle"/>
          </p:nvPr>
        </p:nvSpPr>
        <p:spPr>
          <a:xfrm>
            <a:off x="2022100" y="-69925"/>
            <a:ext cx="55140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Analyse der Zeitreihen</a:t>
            </a:r>
            <a:endParaRPr sz="27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17" name="Google Shape;717;p74"/>
          <p:cNvSpPr txBox="1"/>
          <p:nvPr/>
        </p:nvSpPr>
        <p:spPr>
          <a:xfrm>
            <a:off x="182925" y="744625"/>
            <a:ext cx="4028400" cy="3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Sales-Zyklus: Erfolgsgeschwindigkeit und "Zombie-Deals"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Kontrast bei der Entscheidung: Absagen erfolgen schnell (Median: 2 Tage), während ein Erfolg eine Aufwärmphase benötigt (14–20 Tage)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"Goldstandard" (5–45 Tage): In diesem Zeitfenster ist die Wahrscheinlichkeit für einen Abschluss am höchsten.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718" name="Google Shape;718;p74"/>
          <p:cNvGrpSpPr/>
          <p:nvPr/>
        </p:nvGrpSpPr>
        <p:grpSpPr>
          <a:xfrm>
            <a:off x="7728341" y="129550"/>
            <a:ext cx="351024" cy="350079"/>
            <a:chOff x="3859600" y="3591950"/>
            <a:chExt cx="296975" cy="296175"/>
          </a:xfrm>
        </p:grpSpPr>
        <p:sp>
          <p:nvSpPr>
            <p:cNvPr id="719" name="Google Shape;719;p74"/>
            <p:cNvSpPr/>
            <p:nvPr/>
          </p:nvSpPr>
          <p:spPr>
            <a:xfrm>
              <a:off x="4034450" y="3766000"/>
              <a:ext cx="122125" cy="122125"/>
            </a:xfrm>
            <a:custGeom>
              <a:rect b="b" l="l" r="r" t="t"/>
              <a:pathLst>
                <a:path extrusionOk="0" h="4885" w="4885">
                  <a:moveTo>
                    <a:pt x="2395" y="1324"/>
                  </a:moveTo>
                  <a:cubicBezTo>
                    <a:pt x="2616" y="1324"/>
                    <a:pt x="2773" y="1482"/>
                    <a:pt x="2773" y="1702"/>
                  </a:cubicBezTo>
                  <a:lnTo>
                    <a:pt x="2773" y="2049"/>
                  </a:lnTo>
                  <a:lnTo>
                    <a:pt x="3120" y="2049"/>
                  </a:lnTo>
                  <a:cubicBezTo>
                    <a:pt x="3309" y="2049"/>
                    <a:pt x="3466" y="2206"/>
                    <a:pt x="3466" y="2395"/>
                  </a:cubicBezTo>
                  <a:cubicBezTo>
                    <a:pt x="3466" y="2584"/>
                    <a:pt x="3309" y="2742"/>
                    <a:pt x="3120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95"/>
                  </a:cubicBezTo>
                  <a:lnTo>
                    <a:pt x="2049" y="1702"/>
                  </a:lnTo>
                  <a:cubicBezTo>
                    <a:pt x="2049" y="1482"/>
                    <a:pt x="2206" y="1324"/>
                    <a:pt x="2395" y="1324"/>
                  </a:cubicBezTo>
                  <a:close/>
                  <a:moveTo>
                    <a:pt x="2458" y="1"/>
                  </a:moveTo>
                  <a:cubicBezTo>
                    <a:pt x="1104" y="1"/>
                    <a:pt x="1" y="1103"/>
                    <a:pt x="1" y="2427"/>
                  </a:cubicBezTo>
                  <a:cubicBezTo>
                    <a:pt x="1" y="3781"/>
                    <a:pt x="1104" y="4884"/>
                    <a:pt x="2458" y="4884"/>
                  </a:cubicBezTo>
                  <a:cubicBezTo>
                    <a:pt x="3782" y="4884"/>
                    <a:pt x="4884" y="3781"/>
                    <a:pt x="4884" y="2427"/>
                  </a:cubicBezTo>
                  <a:cubicBezTo>
                    <a:pt x="4853" y="1072"/>
                    <a:pt x="3782" y="1"/>
                    <a:pt x="2458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74"/>
            <p:cNvSpPr/>
            <p:nvPr/>
          </p:nvSpPr>
          <p:spPr>
            <a:xfrm>
              <a:off x="3860400" y="3679375"/>
              <a:ext cx="260725" cy="173300"/>
            </a:xfrm>
            <a:custGeom>
              <a:rect b="b" l="l" r="r" t="t"/>
              <a:pathLst>
                <a:path extrusionOk="0" h="6932" w="10429">
                  <a:moveTo>
                    <a:pt x="2426" y="662"/>
                  </a:moveTo>
                  <a:cubicBezTo>
                    <a:pt x="2647" y="662"/>
                    <a:pt x="2804" y="819"/>
                    <a:pt x="2804" y="1008"/>
                  </a:cubicBezTo>
                  <a:cubicBezTo>
                    <a:pt x="2804" y="1197"/>
                    <a:pt x="2647" y="1355"/>
                    <a:pt x="2426" y="1355"/>
                  </a:cubicBezTo>
                  <a:lnTo>
                    <a:pt x="1733" y="1355"/>
                  </a:lnTo>
                  <a:cubicBezTo>
                    <a:pt x="1544" y="1355"/>
                    <a:pt x="1387" y="1197"/>
                    <a:pt x="1387" y="1008"/>
                  </a:cubicBezTo>
                  <a:cubicBezTo>
                    <a:pt x="1387" y="819"/>
                    <a:pt x="1544" y="662"/>
                    <a:pt x="1733" y="662"/>
                  </a:cubicBezTo>
                  <a:close/>
                  <a:moveTo>
                    <a:pt x="4537" y="662"/>
                  </a:moveTo>
                  <a:cubicBezTo>
                    <a:pt x="4726" y="662"/>
                    <a:pt x="4884" y="819"/>
                    <a:pt x="4884" y="1008"/>
                  </a:cubicBezTo>
                  <a:cubicBezTo>
                    <a:pt x="4884" y="1197"/>
                    <a:pt x="4695" y="1355"/>
                    <a:pt x="4537" y="1355"/>
                  </a:cubicBezTo>
                  <a:lnTo>
                    <a:pt x="3812" y="1355"/>
                  </a:lnTo>
                  <a:cubicBezTo>
                    <a:pt x="3623" y="1355"/>
                    <a:pt x="3466" y="1197"/>
                    <a:pt x="3466" y="1008"/>
                  </a:cubicBezTo>
                  <a:cubicBezTo>
                    <a:pt x="3466" y="819"/>
                    <a:pt x="3623" y="662"/>
                    <a:pt x="3812" y="662"/>
                  </a:cubicBezTo>
                  <a:close/>
                  <a:moveTo>
                    <a:pt x="6648" y="662"/>
                  </a:moveTo>
                  <a:cubicBezTo>
                    <a:pt x="6837" y="662"/>
                    <a:pt x="6994" y="819"/>
                    <a:pt x="6994" y="1008"/>
                  </a:cubicBezTo>
                  <a:cubicBezTo>
                    <a:pt x="6994" y="1197"/>
                    <a:pt x="6837" y="1355"/>
                    <a:pt x="6648" y="1355"/>
                  </a:cubicBezTo>
                  <a:lnTo>
                    <a:pt x="5955" y="1355"/>
                  </a:lnTo>
                  <a:cubicBezTo>
                    <a:pt x="5734" y="1355"/>
                    <a:pt x="5577" y="1197"/>
                    <a:pt x="5577" y="1008"/>
                  </a:cubicBezTo>
                  <a:cubicBezTo>
                    <a:pt x="5577" y="819"/>
                    <a:pt x="5734" y="662"/>
                    <a:pt x="5955" y="662"/>
                  </a:cubicBezTo>
                  <a:close/>
                  <a:moveTo>
                    <a:pt x="8727" y="662"/>
                  </a:moveTo>
                  <a:cubicBezTo>
                    <a:pt x="8948" y="662"/>
                    <a:pt x="9105" y="819"/>
                    <a:pt x="9105" y="1008"/>
                  </a:cubicBezTo>
                  <a:cubicBezTo>
                    <a:pt x="9105" y="1197"/>
                    <a:pt x="8948" y="1355"/>
                    <a:pt x="8727" y="1355"/>
                  </a:cubicBezTo>
                  <a:lnTo>
                    <a:pt x="8034" y="1355"/>
                  </a:lnTo>
                  <a:cubicBezTo>
                    <a:pt x="7845" y="1355"/>
                    <a:pt x="7688" y="1197"/>
                    <a:pt x="7688" y="1008"/>
                  </a:cubicBezTo>
                  <a:cubicBezTo>
                    <a:pt x="7688" y="819"/>
                    <a:pt x="7845" y="662"/>
                    <a:pt x="8034" y="662"/>
                  </a:cubicBezTo>
                  <a:close/>
                  <a:moveTo>
                    <a:pt x="2426" y="2080"/>
                  </a:moveTo>
                  <a:cubicBezTo>
                    <a:pt x="2647" y="2080"/>
                    <a:pt x="2804" y="2237"/>
                    <a:pt x="2804" y="2426"/>
                  </a:cubicBezTo>
                  <a:cubicBezTo>
                    <a:pt x="2804" y="2647"/>
                    <a:pt x="2647" y="2773"/>
                    <a:pt x="2426" y="2773"/>
                  </a:cubicBezTo>
                  <a:lnTo>
                    <a:pt x="1733" y="2773"/>
                  </a:lnTo>
                  <a:cubicBezTo>
                    <a:pt x="1544" y="2773"/>
                    <a:pt x="1387" y="2647"/>
                    <a:pt x="1387" y="2426"/>
                  </a:cubicBezTo>
                  <a:cubicBezTo>
                    <a:pt x="1387" y="2206"/>
                    <a:pt x="1544" y="2080"/>
                    <a:pt x="1733" y="2080"/>
                  </a:cubicBezTo>
                  <a:close/>
                  <a:moveTo>
                    <a:pt x="4537" y="2080"/>
                  </a:moveTo>
                  <a:cubicBezTo>
                    <a:pt x="4726" y="2080"/>
                    <a:pt x="4884" y="2237"/>
                    <a:pt x="4884" y="2426"/>
                  </a:cubicBezTo>
                  <a:cubicBezTo>
                    <a:pt x="4884" y="2647"/>
                    <a:pt x="4695" y="2773"/>
                    <a:pt x="4537" y="2773"/>
                  </a:cubicBezTo>
                  <a:lnTo>
                    <a:pt x="3812" y="2773"/>
                  </a:lnTo>
                  <a:cubicBezTo>
                    <a:pt x="3623" y="2773"/>
                    <a:pt x="3466" y="2647"/>
                    <a:pt x="3466" y="2426"/>
                  </a:cubicBezTo>
                  <a:cubicBezTo>
                    <a:pt x="3466" y="2206"/>
                    <a:pt x="3623" y="2080"/>
                    <a:pt x="3812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7"/>
                    <a:pt x="6994" y="2426"/>
                  </a:cubicBezTo>
                  <a:cubicBezTo>
                    <a:pt x="6994" y="2647"/>
                    <a:pt x="6837" y="2773"/>
                    <a:pt x="6648" y="2773"/>
                  </a:cubicBezTo>
                  <a:lnTo>
                    <a:pt x="5955" y="2773"/>
                  </a:lnTo>
                  <a:cubicBezTo>
                    <a:pt x="5734" y="2773"/>
                    <a:pt x="5577" y="2647"/>
                    <a:pt x="5577" y="2426"/>
                  </a:cubicBezTo>
                  <a:cubicBezTo>
                    <a:pt x="5577" y="2206"/>
                    <a:pt x="5734" y="2080"/>
                    <a:pt x="5955" y="2080"/>
                  </a:cubicBezTo>
                  <a:close/>
                  <a:moveTo>
                    <a:pt x="8727" y="2080"/>
                  </a:moveTo>
                  <a:cubicBezTo>
                    <a:pt x="8948" y="2080"/>
                    <a:pt x="9105" y="2237"/>
                    <a:pt x="9105" y="2426"/>
                  </a:cubicBezTo>
                  <a:cubicBezTo>
                    <a:pt x="9105" y="2647"/>
                    <a:pt x="8948" y="2773"/>
                    <a:pt x="8727" y="2773"/>
                  </a:cubicBezTo>
                  <a:lnTo>
                    <a:pt x="8034" y="2773"/>
                  </a:lnTo>
                  <a:cubicBezTo>
                    <a:pt x="7845" y="2773"/>
                    <a:pt x="7688" y="2647"/>
                    <a:pt x="7688" y="2426"/>
                  </a:cubicBezTo>
                  <a:cubicBezTo>
                    <a:pt x="7688" y="2206"/>
                    <a:pt x="7845" y="2080"/>
                    <a:pt x="8034" y="2080"/>
                  </a:cubicBezTo>
                  <a:close/>
                  <a:moveTo>
                    <a:pt x="2426" y="3466"/>
                  </a:moveTo>
                  <a:cubicBezTo>
                    <a:pt x="2647" y="3466"/>
                    <a:pt x="2804" y="3623"/>
                    <a:pt x="2804" y="3812"/>
                  </a:cubicBezTo>
                  <a:cubicBezTo>
                    <a:pt x="2804" y="4001"/>
                    <a:pt x="2647" y="4159"/>
                    <a:pt x="2426" y="4159"/>
                  </a:cubicBezTo>
                  <a:lnTo>
                    <a:pt x="1733" y="4159"/>
                  </a:lnTo>
                  <a:cubicBezTo>
                    <a:pt x="1544" y="4159"/>
                    <a:pt x="1387" y="4001"/>
                    <a:pt x="1387" y="3812"/>
                  </a:cubicBezTo>
                  <a:cubicBezTo>
                    <a:pt x="1387" y="3623"/>
                    <a:pt x="1544" y="3466"/>
                    <a:pt x="1733" y="3466"/>
                  </a:cubicBezTo>
                  <a:close/>
                  <a:moveTo>
                    <a:pt x="4537" y="3466"/>
                  </a:moveTo>
                  <a:cubicBezTo>
                    <a:pt x="4726" y="3466"/>
                    <a:pt x="4884" y="3623"/>
                    <a:pt x="4884" y="3812"/>
                  </a:cubicBezTo>
                  <a:cubicBezTo>
                    <a:pt x="4884" y="4001"/>
                    <a:pt x="4695" y="4159"/>
                    <a:pt x="4537" y="4159"/>
                  </a:cubicBezTo>
                  <a:lnTo>
                    <a:pt x="3812" y="4159"/>
                  </a:lnTo>
                  <a:cubicBezTo>
                    <a:pt x="3623" y="4159"/>
                    <a:pt x="3466" y="4001"/>
                    <a:pt x="3466" y="3812"/>
                  </a:cubicBezTo>
                  <a:cubicBezTo>
                    <a:pt x="3466" y="3623"/>
                    <a:pt x="3623" y="3466"/>
                    <a:pt x="3812" y="3466"/>
                  </a:cubicBezTo>
                  <a:close/>
                  <a:moveTo>
                    <a:pt x="6648" y="3466"/>
                  </a:moveTo>
                  <a:cubicBezTo>
                    <a:pt x="6837" y="3466"/>
                    <a:pt x="6994" y="3623"/>
                    <a:pt x="6994" y="3812"/>
                  </a:cubicBezTo>
                  <a:cubicBezTo>
                    <a:pt x="6994" y="4001"/>
                    <a:pt x="6837" y="4159"/>
                    <a:pt x="6648" y="4159"/>
                  </a:cubicBezTo>
                  <a:lnTo>
                    <a:pt x="5955" y="4159"/>
                  </a:lnTo>
                  <a:cubicBezTo>
                    <a:pt x="5734" y="4159"/>
                    <a:pt x="5577" y="4001"/>
                    <a:pt x="5577" y="3812"/>
                  </a:cubicBezTo>
                  <a:cubicBezTo>
                    <a:pt x="5577" y="3623"/>
                    <a:pt x="5734" y="3466"/>
                    <a:pt x="5955" y="3466"/>
                  </a:cubicBezTo>
                  <a:close/>
                  <a:moveTo>
                    <a:pt x="2426" y="4852"/>
                  </a:moveTo>
                  <a:cubicBezTo>
                    <a:pt x="2647" y="4852"/>
                    <a:pt x="2804" y="5010"/>
                    <a:pt x="2804" y="5199"/>
                  </a:cubicBezTo>
                  <a:cubicBezTo>
                    <a:pt x="2804" y="5388"/>
                    <a:pt x="2647" y="5545"/>
                    <a:pt x="2426" y="5545"/>
                  </a:cubicBezTo>
                  <a:lnTo>
                    <a:pt x="1733" y="5545"/>
                  </a:lnTo>
                  <a:cubicBezTo>
                    <a:pt x="1544" y="5545"/>
                    <a:pt x="1387" y="5388"/>
                    <a:pt x="1387" y="5199"/>
                  </a:cubicBezTo>
                  <a:cubicBezTo>
                    <a:pt x="1387" y="5010"/>
                    <a:pt x="1544" y="4852"/>
                    <a:pt x="1733" y="4852"/>
                  </a:cubicBezTo>
                  <a:close/>
                  <a:moveTo>
                    <a:pt x="4537" y="4852"/>
                  </a:moveTo>
                  <a:cubicBezTo>
                    <a:pt x="4726" y="4852"/>
                    <a:pt x="4884" y="5010"/>
                    <a:pt x="4884" y="5199"/>
                  </a:cubicBezTo>
                  <a:cubicBezTo>
                    <a:pt x="4884" y="5388"/>
                    <a:pt x="4695" y="5545"/>
                    <a:pt x="4537" y="5545"/>
                  </a:cubicBezTo>
                  <a:lnTo>
                    <a:pt x="3812" y="5545"/>
                  </a:lnTo>
                  <a:cubicBezTo>
                    <a:pt x="3623" y="5545"/>
                    <a:pt x="3466" y="5388"/>
                    <a:pt x="3466" y="5199"/>
                  </a:cubicBezTo>
                  <a:cubicBezTo>
                    <a:pt x="3466" y="5010"/>
                    <a:pt x="3623" y="4852"/>
                    <a:pt x="3812" y="4852"/>
                  </a:cubicBezTo>
                  <a:close/>
                  <a:moveTo>
                    <a:pt x="0" y="0"/>
                  </a:moveTo>
                  <a:lnTo>
                    <a:pt x="0" y="5892"/>
                  </a:lnTo>
                  <a:cubicBezTo>
                    <a:pt x="0" y="6459"/>
                    <a:pt x="473" y="6931"/>
                    <a:pt x="1071" y="6931"/>
                  </a:cubicBezTo>
                  <a:lnTo>
                    <a:pt x="6490" y="6931"/>
                  </a:lnTo>
                  <a:cubicBezTo>
                    <a:pt x="6364" y="6616"/>
                    <a:pt x="6301" y="6270"/>
                    <a:pt x="6301" y="5892"/>
                  </a:cubicBezTo>
                  <a:cubicBezTo>
                    <a:pt x="6301" y="5797"/>
                    <a:pt x="6333" y="5671"/>
                    <a:pt x="6333" y="5545"/>
                  </a:cubicBezTo>
                  <a:lnTo>
                    <a:pt x="5955" y="5545"/>
                  </a:lnTo>
                  <a:cubicBezTo>
                    <a:pt x="5734" y="5545"/>
                    <a:pt x="5577" y="5388"/>
                    <a:pt x="5577" y="5199"/>
                  </a:cubicBezTo>
                  <a:cubicBezTo>
                    <a:pt x="5577" y="5010"/>
                    <a:pt x="5734" y="4852"/>
                    <a:pt x="5955" y="4852"/>
                  </a:cubicBezTo>
                  <a:lnTo>
                    <a:pt x="6490" y="4852"/>
                  </a:lnTo>
                  <a:cubicBezTo>
                    <a:pt x="6931" y="3623"/>
                    <a:pt x="8066" y="2741"/>
                    <a:pt x="9420" y="2741"/>
                  </a:cubicBezTo>
                  <a:cubicBezTo>
                    <a:pt x="9767" y="2741"/>
                    <a:pt x="10113" y="2836"/>
                    <a:pt x="10428" y="2962"/>
                  </a:cubicBezTo>
                  <a:lnTo>
                    <a:pt x="10428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74"/>
            <p:cNvSpPr/>
            <p:nvPr/>
          </p:nvSpPr>
          <p:spPr>
            <a:xfrm>
              <a:off x="3859600" y="3591950"/>
              <a:ext cx="261525" cy="70900"/>
            </a:xfrm>
            <a:custGeom>
              <a:rect b="b" l="l" r="r" t="t"/>
              <a:pathLst>
                <a:path extrusionOk="0" h="2836" w="10461">
                  <a:moveTo>
                    <a:pt x="1734" y="0"/>
                  </a:moveTo>
                  <a:cubicBezTo>
                    <a:pt x="1513" y="0"/>
                    <a:pt x="1356" y="158"/>
                    <a:pt x="1356" y="347"/>
                  </a:cubicBezTo>
                  <a:lnTo>
                    <a:pt x="1356" y="693"/>
                  </a:lnTo>
                  <a:lnTo>
                    <a:pt x="1009" y="693"/>
                  </a:lnTo>
                  <a:cubicBezTo>
                    <a:pt x="410" y="693"/>
                    <a:pt x="1" y="1166"/>
                    <a:pt x="1" y="1733"/>
                  </a:cubicBezTo>
                  <a:lnTo>
                    <a:pt x="1" y="2836"/>
                  </a:lnTo>
                  <a:lnTo>
                    <a:pt x="10429" y="2836"/>
                  </a:lnTo>
                  <a:lnTo>
                    <a:pt x="10429" y="1733"/>
                  </a:lnTo>
                  <a:lnTo>
                    <a:pt x="10460" y="1733"/>
                  </a:lnTo>
                  <a:cubicBezTo>
                    <a:pt x="10460" y="1134"/>
                    <a:pt x="9988" y="693"/>
                    <a:pt x="9421" y="693"/>
                  </a:cubicBezTo>
                  <a:lnTo>
                    <a:pt x="9074" y="693"/>
                  </a:lnTo>
                  <a:lnTo>
                    <a:pt x="9074" y="347"/>
                  </a:lnTo>
                  <a:cubicBezTo>
                    <a:pt x="9074" y="158"/>
                    <a:pt x="8917" y="0"/>
                    <a:pt x="8728" y="0"/>
                  </a:cubicBezTo>
                  <a:cubicBezTo>
                    <a:pt x="8539" y="0"/>
                    <a:pt x="8381" y="158"/>
                    <a:pt x="8381" y="347"/>
                  </a:cubicBezTo>
                  <a:lnTo>
                    <a:pt x="8381" y="693"/>
                  </a:lnTo>
                  <a:lnTo>
                    <a:pt x="6995" y="693"/>
                  </a:lnTo>
                  <a:lnTo>
                    <a:pt x="6995" y="347"/>
                  </a:lnTo>
                  <a:cubicBezTo>
                    <a:pt x="6995" y="158"/>
                    <a:pt x="6837" y="0"/>
                    <a:pt x="6648" y="0"/>
                  </a:cubicBezTo>
                  <a:cubicBezTo>
                    <a:pt x="6459" y="0"/>
                    <a:pt x="6302" y="158"/>
                    <a:pt x="6302" y="347"/>
                  </a:cubicBezTo>
                  <a:lnTo>
                    <a:pt x="6302" y="693"/>
                  </a:lnTo>
                  <a:lnTo>
                    <a:pt x="4159" y="693"/>
                  </a:lnTo>
                  <a:lnTo>
                    <a:pt x="4159" y="347"/>
                  </a:lnTo>
                  <a:cubicBezTo>
                    <a:pt x="4159" y="158"/>
                    <a:pt x="4002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22" name="Google Shape;72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1325" y="1416650"/>
            <a:ext cx="4451001" cy="24084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23" name="Google Shape;723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75"/>
          <p:cNvSpPr txBox="1"/>
          <p:nvPr>
            <p:ph idx="4294967295" type="ctrTitle"/>
          </p:nvPr>
        </p:nvSpPr>
        <p:spPr>
          <a:xfrm>
            <a:off x="2022100" y="-69925"/>
            <a:ext cx="55140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Analyse der Kampagnen-Effizienz</a:t>
            </a:r>
            <a:endParaRPr sz="2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29" name="Google Shape;729;p75"/>
          <p:cNvSpPr txBox="1"/>
          <p:nvPr/>
        </p:nvSpPr>
        <p:spPr>
          <a:xfrm>
            <a:off x="373875" y="2808625"/>
            <a:ext cx="7104300" cy="1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Effizienz der Werbekampagnen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YouTube Shorts DE (Reichweiten-Leader): Generiert den Hauptstrom an Anfragen. Das wichtigste Instrument für Skalierung und Bekanntheit.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Brand Search ENG DE (Qualitäts-Standard): Rekord-Conversion von 9,43 %. 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730" name="Google Shape;730;p75"/>
          <p:cNvGrpSpPr/>
          <p:nvPr/>
        </p:nvGrpSpPr>
        <p:grpSpPr>
          <a:xfrm>
            <a:off x="7478186" y="203990"/>
            <a:ext cx="534422" cy="534438"/>
            <a:chOff x="3497300" y="3955025"/>
            <a:chExt cx="295375" cy="295400"/>
          </a:xfrm>
        </p:grpSpPr>
        <p:sp>
          <p:nvSpPr>
            <p:cNvPr id="731" name="Google Shape;731;p75"/>
            <p:cNvSpPr/>
            <p:nvPr/>
          </p:nvSpPr>
          <p:spPr>
            <a:xfrm>
              <a:off x="3660350" y="4035375"/>
              <a:ext cx="132325" cy="155175"/>
            </a:xfrm>
            <a:custGeom>
              <a:rect b="b" l="l" r="r" t="t"/>
              <a:pathLst>
                <a:path extrusionOk="0" h="6207" w="5293">
                  <a:moveTo>
                    <a:pt x="4663" y="0"/>
                  </a:moveTo>
                  <a:lnTo>
                    <a:pt x="0" y="2773"/>
                  </a:lnTo>
                  <a:lnTo>
                    <a:pt x="4127" y="6207"/>
                  </a:lnTo>
                  <a:cubicBezTo>
                    <a:pt x="4852" y="5199"/>
                    <a:pt x="5293" y="4033"/>
                    <a:pt x="5293" y="2678"/>
                  </a:cubicBezTo>
                  <a:cubicBezTo>
                    <a:pt x="5293" y="1733"/>
                    <a:pt x="5041" y="851"/>
                    <a:pt x="466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39950" lIns="139950" spcFirstLastPara="1" rIns="139950" wrap="square" tIns="13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75"/>
            <p:cNvSpPr/>
            <p:nvPr/>
          </p:nvSpPr>
          <p:spPr>
            <a:xfrm>
              <a:off x="3653250" y="3955025"/>
              <a:ext cx="114225" cy="133150"/>
            </a:xfrm>
            <a:custGeom>
              <a:rect b="b" l="l" r="r" t="t"/>
              <a:pathLst>
                <a:path extrusionOk="0" h="5326" w="4569">
                  <a:moveTo>
                    <a:pt x="1" y="1"/>
                  </a:moveTo>
                  <a:lnTo>
                    <a:pt x="1" y="5325"/>
                  </a:lnTo>
                  <a:lnTo>
                    <a:pt x="4569" y="2679"/>
                  </a:lnTo>
                  <a:cubicBezTo>
                    <a:pt x="3561" y="1167"/>
                    <a:pt x="1891" y="127"/>
                    <a:pt x="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39950" lIns="139950" spcFirstLastPara="1" rIns="139950" wrap="square" tIns="13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75"/>
            <p:cNvSpPr/>
            <p:nvPr/>
          </p:nvSpPr>
          <p:spPr>
            <a:xfrm>
              <a:off x="3497300" y="3955025"/>
              <a:ext cx="256000" cy="295400"/>
            </a:xfrm>
            <a:custGeom>
              <a:rect b="b" l="l" r="r" t="t"/>
              <a:pathLst>
                <a:path extrusionOk="0" h="11816" w="10240">
                  <a:moveTo>
                    <a:pt x="5577" y="1"/>
                  </a:moveTo>
                  <a:cubicBezTo>
                    <a:pt x="2521" y="190"/>
                    <a:pt x="1" y="2805"/>
                    <a:pt x="1" y="5892"/>
                  </a:cubicBezTo>
                  <a:cubicBezTo>
                    <a:pt x="1" y="9137"/>
                    <a:pt x="2678" y="11815"/>
                    <a:pt x="5923" y="11815"/>
                  </a:cubicBezTo>
                  <a:cubicBezTo>
                    <a:pt x="7625" y="11815"/>
                    <a:pt x="9168" y="11059"/>
                    <a:pt x="10240" y="9925"/>
                  </a:cubicBezTo>
                  <a:lnTo>
                    <a:pt x="5703" y="6176"/>
                  </a:lnTo>
                  <a:cubicBezTo>
                    <a:pt x="5608" y="6144"/>
                    <a:pt x="5577" y="5987"/>
                    <a:pt x="5577" y="5892"/>
                  </a:cubicBezTo>
                  <a:lnTo>
                    <a:pt x="5577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39950" lIns="139950" spcFirstLastPara="1" rIns="139950" wrap="square" tIns="13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34" name="Google Shape;734;p75" title="Знімок екрана 2026-04-01 011735.png"/>
          <p:cNvPicPr preferRelativeResize="0"/>
          <p:nvPr/>
        </p:nvPicPr>
        <p:blipFill rotWithShape="1">
          <a:blip r:embed="rId3">
            <a:alphaModFix/>
          </a:blip>
          <a:srcRect b="0" l="1450" r="4415" t="0"/>
          <a:stretch/>
        </p:blipFill>
        <p:spPr>
          <a:xfrm>
            <a:off x="268275" y="1017200"/>
            <a:ext cx="8607450" cy="16660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35" name="Google Shape;735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6"/>
          <p:cNvSpPr txBox="1"/>
          <p:nvPr>
            <p:ph idx="4294967295" type="ctrTitle"/>
          </p:nvPr>
        </p:nvSpPr>
        <p:spPr>
          <a:xfrm>
            <a:off x="2022100" y="-69925"/>
            <a:ext cx="55140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Analyse der Kampagnen-Effizienz</a:t>
            </a:r>
            <a:endParaRPr sz="2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1" name="Google Shape;741;p76"/>
          <p:cNvSpPr txBox="1"/>
          <p:nvPr/>
        </p:nvSpPr>
        <p:spPr>
          <a:xfrm>
            <a:off x="330175" y="2697850"/>
            <a:ext cx="7104300" cy="1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Vergleichsanalyse der Traffic-Kanäle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Facebook Ads (Reichweiten-Leader): Haupttreiber des Funnels (&gt; 3.000 Anfragen). Stabile Skalierung bei einer Conversion von 5,84 %.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Webinare (Qualitäts-Standard): Rekord-Conversion von 7,58 %. 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742" name="Google Shape;742;p76"/>
          <p:cNvGrpSpPr/>
          <p:nvPr/>
        </p:nvGrpSpPr>
        <p:grpSpPr>
          <a:xfrm>
            <a:off x="7478186" y="203990"/>
            <a:ext cx="534422" cy="534438"/>
            <a:chOff x="3497300" y="3955025"/>
            <a:chExt cx="295375" cy="295400"/>
          </a:xfrm>
        </p:grpSpPr>
        <p:sp>
          <p:nvSpPr>
            <p:cNvPr id="743" name="Google Shape;743;p76"/>
            <p:cNvSpPr/>
            <p:nvPr/>
          </p:nvSpPr>
          <p:spPr>
            <a:xfrm>
              <a:off x="3660350" y="4035375"/>
              <a:ext cx="132325" cy="155175"/>
            </a:xfrm>
            <a:custGeom>
              <a:rect b="b" l="l" r="r" t="t"/>
              <a:pathLst>
                <a:path extrusionOk="0" h="6207" w="5293">
                  <a:moveTo>
                    <a:pt x="4663" y="0"/>
                  </a:moveTo>
                  <a:lnTo>
                    <a:pt x="0" y="2773"/>
                  </a:lnTo>
                  <a:lnTo>
                    <a:pt x="4127" y="6207"/>
                  </a:lnTo>
                  <a:cubicBezTo>
                    <a:pt x="4852" y="5199"/>
                    <a:pt x="5293" y="4033"/>
                    <a:pt x="5293" y="2678"/>
                  </a:cubicBezTo>
                  <a:cubicBezTo>
                    <a:pt x="5293" y="1733"/>
                    <a:pt x="5041" y="851"/>
                    <a:pt x="466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39950" lIns="139950" spcFirstLastPara="1" rIns="139950" wrap="square" tIns="13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76"/>
            <p:cNvSpPr/>
            <p:nvPr/>
          </p:nvSpPr>
          <p:spPr>
            <a:xfrm>
              <a:off x="3653250" y="3955025"/>
              <a:ext cx="114225" cy="133150"/>
            </a:xfrm>
            <a:custGeom>
              <a:rect b="b" l="l" r="r" t="t"/>
              <a:pathLst>
                <a:path extrusionOk="0" h="5326" w="4569">
                  <a:moveTo>
                    <a:pt x="1" y="1"/>
                  </a:moveTo>
                  <a:lnTo>
                    <a:pt x="1" y="5325"/>
                  </a:lnTo>
                  <a:lnTo>
                    <a:pt x="4569" y="2679"/>
                  </a:lnTo>
                  <a:cubicBezTo>
                    <a:pt x="3561" y="1167"/>
                    <a:pt x="1891" y="127"/>
                    <a:pt x="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39950" lIns="139950" spcFirstLastPara="1" rIns="139950" wrap="square" tIns="13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76"/>
            <p:cNvSpPr/>
            <p:nvPr/>
          </p:nvSpPr>
          <p:spPr>
            <a:xfrm>
              <a:off x="3497300" y="3955025"/>
              <a:ext cx="256000" cy="295400"/>
            </a:xfrm>
            <a:custGeom>
              <a:rect b="b" l="l" r="r" t="t"/>
              <a:pathLst>
                <a:path extrusionOk="0" h="11816" w="10240">
                  <a:moveTo>
                    <a:pt x="5577" y="1"/>
                  </a:moveTo>
                  <a:cubicBezTo>
                    <a:pt x="2521" y="190"/>
                    <a:pt x="1" y="2805"/>
                    <a:pt x="1" y="5892"/>
                  </a:cubicBezTo>
                  <a:cubicBezTo>
                    <a:pt x="1" y="9137"/>
                    <a:pt x="2678" y="11815"/>
                    <a:pt x="5923" y="11815"/>
                  </a:cubicBezTo>
                  <a:cubicBezTo>
                    <a:pt x="7625" y="11815"/>
                    <a:pt x="9168" y="11059"/>
                    <a:pt x="10240" y="9925"/>
                  </a:cubicBezTo>
                  <a:lnTo>
                    <a:pt x="5703" y="6176"/>
                  </a:lnTo>
                  <a:cubicBezTo>
                    <a:pt x="5608" y="6144"/>
                    <a:pt x="5577" y="5987"/>
                    <a:pt x="5577" y="5892"/>
                  </a:cubicBezTo>
                  <a:lnTo>
                    <a:pt x="5577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39950" lIns="139950" spcFirstLastPara="1" rIns="139950" wrap="square" tIns="13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46" name="Google Shape;746;p76"/>
          <p:cNvPicPr preferRelativeResize="0"/>
          <p:nvPr/>
        </p:nvPicPr>
        <p:blipFill rotWithShape="1">
          <a:blip r:embed="rId3">
            <a:alphaModFix/>
          </a:blip>
          <a:srcRect b="3715" l="1240" r="1860" t="7412"/>
          <a:stretch/>
        </p:blipFill>
        <p:spPr>
          <a:xfrm>
            <a:off x="141550" y="1046250"/>
            <a:ext cx="8860898" cy="1651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47" name="Google Shape;747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77"/>
          <p:cNvSpPr txBox="1"/>
          <p:nvPr>
            <p:ph idx="4294967295" type="ctrTitle"/>
          </p:nvPr>
        </p:nvSpPr>
        <p:spPr>
          <a:xfrm>
            <a:off x="864525" y="-69925"/>
            <a:ext cx="71745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Effizienzanalyse des Vertriebsteams</a:t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53" name="Google Shape;753;p77"/>
          <p:cNvSpPr txBox="1"/>
          <p:nvPr/>
        </p:nvSpPr>
        <p:spPr>
          <a:xfrm>
            <a:off x="328125" y="909575"/>
            <a:ext cx="71043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Vertriebsführer: Umsatz und Volumen nach Kampagnen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Wide De (Profit): Absoluter Umsatz-Champion – 487.050 $. Höchster Durchschnitts-Check (AOV).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PMax Digitalmarkt (Skalierung): Rekordhalter bei der Anzahl der Deals (109). 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754" name="Google Shape;754;p77"/>
          <p:cNvGrpSpPr/>
          <p:nvPr/>
        </p:nvGrpSpPr>
        <p:grpSpPr>
          <a:xfrm>
            <a:off x="7834413" y="276529"/>
            <a:ext cx="524451" cy="596008"/>
            <a:chOff x="5736525" y="3963700"/>
            <a:chExt cx="259925" cy="295375"/>
          </a:xfrm>
        </p:grpSpPr>
        <p:sp>
          <p:nvSpPr>
            <p:cNvPr id="755" name="Google Shape;755;p77"/>
            <p:cNvSpPr/>
            <p:nvPr/>
          </p:nvSpPr>
          <p:spPr>
            <a:xfrm>
              <a:off x="5736525" y="4153525"/>
              <a:ext cx="121300" cy="105550"/>
            </a:xfrm>
            <a:custGeom>
              <a:rect b="b" l="l" r="r" t="t"/>
              <a:pathLst>
                <a:path extrusionOk="0" h="4222" w="4852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3875"/>
                  </a:lnTo>
                  <a:cubicBezTo>
                    <a:pt x="0" y="4064"/>
                    <a:pt x="158" y="4222"/>
                    <a:pt x="378" y="4222"/>
                  </a:cubicBezTo>
                  <a:lnTo>
                    <a:pt x="4852" y="4222"/>
                  </a:lnTo>
                  <a:lnTo>
                    <a:pt x="4852" y="2584"/>
                  </a:lnTo>
                  <a:lnTo>
                    <a:pt x="2300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56075" lIns="156075" spcFirstLastPara="1" rIns="156075" wrap="square" tIns="156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77"/>
            <p:cNvSpPr/>
            <p:nvPr/>
          </p:nvSpPr>
          <p:spPr>
            <a:xfrm>
              <a:off x="5833400" y="4168475"/>
              <a:ext cx="66975" cy="33900"/>
            </a:xfrm>
            <a:custGeom>
              <a:rect b="b" l="l" r="r" t="t"/>
              <a:pathLst>
                <a:path extrusionOk="0" h="1356" w="2679">
                  <a:moveTo>
                    <a:pt x="2678" y="1"/>
                  </a:moveTo>
                  <a:lnTo>
                    <a:pt x="2678" y="1"/>
                  </a:lnTo>
                  <a:cubicBezTo>
                    <a:pt x="2458" y="32"/>
                    <a:pt x="2237" y="127"/>
                    <a:pt x="1985" y="127"/>
                  </a:cubicBezTo>
                  <a:lnTo>
                    <a:pt x="662" y="127"/>
                  </a:lnTo>
                  <a:cubicBezTo>
                    <a:pt x="441" y="127"/>
                    <a:pt x="221" y="95"/>
                    <a:pt x="0" y="1"/>
                  </a:cubicBezTo>
                  <a:lnTo>
                    <a:pt x="0" y="1"/>
                  </a:lnTo>
                  <a:lnTo>
                    <a:pt x="1323" y="1355"/>
                  </a:lnTo>
                  <a:lnTo>
                    <a:pt x="2678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56075" lIns="156075" spcFirstLastPara="1" rIns="156075" wrap="square" tIns="156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77"/>
            <p:cNvSpPr/>
            <p:nvPr/>
          </p:nvSpPr>
          <p:spPr>
            <a:xfrm>
              <a:off x="5875925" y="4153525"/>
              <a:ext cx="120525" cy="105550"/>
            </a:xfrm>
            <a:custGeom>
              <a:rect b="b" l="l" r="r" t="t"/>
              <a:pathLst>
                <a:path extrusionOk="0" h="4222" w="4821">
                  <a:moveTo>
                    <a:pt x="2426" y="2048"/>
                  </a:moveTo>
                  <a:cubicBezTo>
                    <a:pt x="2615" y="2048"/>
                    <a:pt x="2773" y="2205"/>
                    <a:pt x="2773" y="2426"/>
                  </a:cubicBezTo>
                  <a:cubicBezTo>
                    <a:pt x="2773" y="2615"/>
                    <a:pt x="2615" y="2773"/>
                    <a:pt x="2426" y="2773"/>
                  </a:cubicBezTo>
                  <a:lnTo>
                    <a:pt x="1733" y="2773"/>
                  </a:lnTo>
                  <a:cubicBezTo>
                    <a:pt x="1513" y="2773"/>
                    <a:pt x="1355" y="2615"/>
                    <a:pt x="1355" y="2426"/>
                  </a:cubicBezTo>
                  <a:cubicBezTo>
                    <a:pt x="1355" y="2205"/>
                    <a:pt x="1513" y="2048"/>
                    <a:pt x="1733" y="2048"/>
                  </a:cubicBezTo>
                  <a:close/>
                  <a:moveTo>
                    <a:pt x="2552" y="0"/>
                  </a:moveTo>
                  <a:lnTo>
                    <a:pt x="1" y="2584"/>
                  </a:lnTo>
                  <a:lnTo>
                    <a:pt x="1" y="4222"/>
                  </a:lnTo>
                  <a:lnTo>
                    <a:pt x="4474" y="4222"/>
                  </a:lnTo>
                  <a:cubicBezTo>
                    <a:pt x="4663" y="4222"/>
                    <a:pt x="4821" y="4064"/>
                    <a:pt x="4821" y="3875"/>
                  </a:cubicBezTo>
                  <a:lnTo>
                    <a:pt x="4821" y="1733"/>
                  </a:lnTo>
                  <a:cubicBezTo>
                    <a:pt x="4821" y="788"/>
                    <a:pt x="4033" y="0"/>
                    <a:pt x="308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56075" lIns="156075" spcFirstLastPara="1" rIns="156075" wrap="square" tIns="156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77"/>
            <p:cNvSpPr/>
            <p:nvPr/>
          </p:nvSpPr>
          <p:spPr>
            <a:xfrm>
              <a:off x="5754625" y="3963700"/>
              <a:ext cx="224500" cy="154400"/>
            </a:xfrm>
            <a:custGeom>
              <a:rect b="b" l="l" r="r" t="t"/>
              <a:pathLst>
                <a:path extrusionOk="0" h="6176" w="8980">
                  <a:moveTo>
                    <a:pt x="3120" y="1"/>
                  </a:moveTo>
                  <a:cubicBezTo>
                    <a:pt x="1387" y="1"/>
                    <a:pt x="1" y="1418"/>
                    <a:pt x="1" y="3119"/>
                  </a:cubicBezTo>
                  <a:lnTo>
                    <a:pt x="1" y="4506"/>
                  </a:lnTo>
                  <a:cubicBezTo>
                    <a:pt x="1" y="5325"/>
                    <a:pt x="568" y="6018"/>
                    <a:pt x="1355" y="6175"/>
                  </a:cubicBezTo>
                  <a:lnTo>
                    <a:pt x="1355" y="2773"/>
                  </a:lnTo>
                  <a:lnTo>
                    <a:pt x="1009" y="2773"/>
                  </a:lnTo>
                  <a:cubicBezTo>
                    <a:pt x="914" y="2773"/>
                    <a:pt x="820" y="2804"/>
                    <a:pt x="694" y="2804"/>
                  </a:cubicBezTo>
                  <a:cubicBezTo>
                    <a:pt x="851" y="1607"/>
                    <a:pt x="1860" y="662"/>
                    <a:pt x="3120" y="662"/>
                  </a:cubicBezTo>
                  <a:lnTo>
                    <a:pt x="5861" y="662"/>
                  </a:lnTo>
                  <a:cubicBezTo>
                    <a:pt x="7089" y="662"/>
                    <a:pt x="8098" y="1607"/>
                    <a:pt x="8255" y="2804"/>
                  </a:cubicBezTo>
                  <a:cubicBezTo>
                    <a:pt x="8161" y="2773"/>
                    <a:pt x="8066" y="2773"/>
                    <a:pt x="7940" y="2773"/>
                  </a:cubicBezTo>
                  <a:lnTo>
                    <a:pt x="7593" y="2773"/>
                  </a:lnTo>
                  <a:lnTo>
                    <a:pt x="7593" y="6175"/>
                  </a:lnTo>
                  <a:cubicBezTo>
                    <a:pt x="8381" y="6018"/>
                    <a:pt x="8980" y="5325"/>
                    <a:pt x="8980" y="4506"/>
                  </a:cubicBezTo>
                  <a:lnTo>
                    <a:pt x="8980" y="3119"/>
                  </a:lnTo>
                  <a:cubicBezTo>
                    <a:pt x="8980" y="1387"/>
                    <a:pt x="7562" y="1"/>
                    <a:pt x="586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56075" lIns="156075" spcFirstLastPara="1" rIns="156075" wrap="square" tIns="156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77"/>
            <p:cNvSpPr/>
            <p:nvPr/>
          </p:nvSpPr>
          <p:spPr>
            <a:xfrm>
              <a:off x="5806625" y="3998350"/>
              <a:ext cx="69325" cy="52025"/>
            </a:xfrm>
            <a:custGeom>
              <a:rect b="b" l="l" r="r" t="t"/>
              <a:pathLst>
                <a:path extrusionOk="0" h="2081" w="2773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lnTo>
                    <a:pt x="0" y="2080"/>
                  </a:lnTo>
                  <a:lnTo>
                    <a:pt x="1733" y="2080"/>
                  </a:lnTo>
                  <a:cubicBezTo>
                    <a:pt x="2300" y="2049"/>
                    <a:pt x="2773" y="1607"/>
                    <a:pt x="2773" y="1009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56075" lIns="156075" spcFirstLastPara="1" rIns="156075" wrap="square" tIns="156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77"/>
            <p:cNvSpPr/>
            <p:nvPr/>
          </p:nvSpPr>
          <p:spPr>
            <a:xfrm>
              <a:off x="5893250" y="3999150"/>
              <a:ext cx="34675" cy="51225"/>
            </a:xfrm>
            <a:custGeom>
              <a:rect b="b" l="l" r="r" t="t"/>
              <a:pathLst>
                <a:path extrusionOk="0" h="2049" w="1387">
                  <a:moveTo>
                    <a:pt x="1" y="0"/>
                  </a:moveTo>
                  <a:lnTo>
                    <a:pt x="1" y="1040"/>
                  </a:lnTo>
                  <a:cubicBezTo>
                    <a:pt x="1" y="1607"/>
                    <a:pt x="473" y="2048"/>
                    <a:pt x="1040" y="2048"/>
                  </a:cubicBezTo>
                  <a:lnTo>
                    <a:pt x="1387" y="2048"/>
                  </a:lnTo>
                  <a:lnTo>
                    <a:pt x="1387" y="1701"/>
                  </a:lnTo>
                  <a:cubicBezTo>
                    <a:pt x="1387" y="882"/>
                    <a:pt x="788" y="158"/>
                    <a:pt x="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56075" lIns="156075" spcFirstLastPara="1" rIns="156075" wrap="square" tIns="156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77"/>
            <p:cNvSpPr/>
            <p:nvPr/>
          </p:nvSpPr>
          <p:spPr>
            <a:xfrm>
              <a:off x="5806625" y="4049550"/>
              <a:ext cx="121300" cy="104000"/>
            </a:xfrm>
            <a:custGeom>
              <a:rect b="b" l="l" r="r" t="t"/>
              <a:pathLst>
                <a:path extrusionOk="0" h="4160" w="4852">
                  <a:moveTo>
                    <a:pt x="3119" y="1"/>
                  </a:moveTo>
                  <a:cubicBezTo>
                    <a:pt x="2804" y="442"/>
                    <a:pt x="2300" y="694"/>
                    <a:pt x="1733" y="694"/>
                  </a:cubicBezTo>
                  <a:lnTo>
                    <a:pt x="0" y="694"/>
                  </a:lnTo>
                  <a:lnTo>
                    <a:pt x="0" y="2426"/>
                  </a:lnTo>
                  <a:cubicBezTo>
                    <a:pt x="0" y="3372"/>
                    <a:pt x="788" y="4159"/>
                    <a:pt x="1733" y="4159"/>
                  </a:cubicBezTo>
                  <a:lnTo>
                    <a:pt x="3119" y="4159"/>
                  </a:lnTo>
                  <a:cubicBezTo>
                    <a:pt x="4064" y="4159"/>
                    <a:pt x="4852" y="3372"/>
                    <a:pt x="4852" y="2426"/>
                  </a:cubicBezTo>
                  <a:lnTo>
                    <a:pt x="4852" y="694"/>
                  </a:lnTo>
                  <a:lnTo>
                    <a:pt x="4505" y="694"/>
                  </a:lnTo>
                  <a:cubicBezTo>
                    <a:pt x="3938" y="694"/>
                    <a:pt x="3434" y="442"/>
                    <a:pt x="311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56075" lIns="156075" spcFirstLastPara="1" rIns="156075" wrap="square" tIns="156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62" name="Google Shape;762;p77" title="Знімок екрана 2026-04-01 013037.png"/>
          <p:cNvPicPr preferRelativeResize="0"/>
          <p:nvPr/>
        </p:nvPicPr>
        <p:blipFill rotWithShape="1">
          <a:blip r:embed="rId3">
            <a:alphaModFix/>
          </a:blip>
          <a:srcRect b="0" l="2795" r="5251" t="0"/>
          <a:stretch/>
        </p:blipFill>
        <p:spPr>
          <a:xfrm>
            <a:off x="423600" y="2720525"/>
            <a:ext cx="8056351" cy="2223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63" name="Google Shape;763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8"/>
          <p:cNvSpPr txBox="1"/>
          <p:nvPr>
            <p:ph idx="4294967295" type="ctrTitle"/>
          </p:nvPr>
        </p:nvSpPr>
        <p:spPr>
          <a:xfrm>
            <a:off x="864525" y="-69925"/>
            <a:ext cx="71745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Effizienzanalyse des Vertriebsteams</a:t>
            </a:r>
            <a:endParaRPr sz="4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9" name="Google Shape;769;p78"/>
          <p:cNvSpPr txBox="1"/>
          <p:nvPr/>
        </p:nvSpPr>
        <p:spPr>
          <a:xfrm>
            <a:off x="558425" y="2778800"/>
            <a:ext cx="71043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Vertriebseffizienz: Top-Performer und Potenziale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Cara Iverson (Umsatz-Leader): Rekordergebnis von $674.400. Trotz niedriger Conversion (2,56 %) punktet sie durch hohes Volumen und große Deals.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Ulysses Adams (Präzisions-Champion): Höchste Conversion in den Top 5 mit 6,52 %. Er schließt Deals 2,5-mal effizienter ab als Cara (Umsatz: $538.550).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770" name="Google Shape;770;p78"/>
          <p:cNvGrpSpPr/>
          <p:nvPr/>
        </p:nvGrpSpPr>
        <p:grpSpPr>
          <a:xfrm>
            <a:off x="7945038" y="283679"/>
            <a:ext cx="524451" cy="596008"/>
            <a:chOff x="5736525" y="3963700"/>
            <a:chExt cx="259925" cy="295375"/>
          </a:xfrm>
        </p:grpSpPr>
        <p:sp>
          <p:nvSpPr>
            <p:cNvPr id="771" name="Google Shape;771;p78"/>
            <p:cNvSpPr/>
            <p:nvPr/>
          </p:nvSpPr>
          <p:spPr>
            <a:xfrm>
              <a:off x="5736525" y="4153525"/>
              <a:ext cx="121300" cy="105550"/>
            </a:xfrm>
            <a:custGeom>
              <a:rect b="b" l="l" r="r" t="t"/>
              <a:pathLst>
                <a:path extrusionOk="0" h="4222" w="4852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3875"/>
                  </a:lnTo>
                  <a:cubicBezTo>
                    <a:pt x="0" y="4064"/>
                    <a:pt x="158" y="4222"/>
                    <a:pt x="378" y="4222"/>
                  </a:cubicBezTo>
                  <a:lnTo>
                    <a:pt x="4852" y="4222"/>
                  </a:lnTo>
                  <a:lnTo>
                    <a:pt x="4852" y="2584"/>
                  </a:lnTo>
                  <a:lnTo>
                    <a:pt x="2300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56075" lIns="156075" spcFirstLastPara="1" rIns="156075" wrap="square" tIns="156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78"/>
            <p:cNvSpPr/>
            <p:nvPr/>
          </p:nvSpPr>
          <p:spPr>
            <a:xfrm>
              <a:off x="5833400" y="4168475"/>
              <a:ext cx="66975" cy="33900"/>
            </a:xfrm>
            <a:custGeom>
              <a:rect b="b" l="l" r="r" t="t"/>
              <a:pathLst>
                <a:path extrusionOk="0" h="1356" w="2679">
                  <a:moveTo>
                    <a:pt x="2678" y="1"/>
                  </a:moveTo>
                  <a:lnTo>
                    <a:pt x="2678" y="1"/>
                  </a:lnTo>
                  <a:cubicBezTo>
                    <a:pt x="2458" y="32"/>
                    <a:pt x="2237" y="127"/>
                    <a:pt x="1985" y="127"/>
                  </a:cubicBezTo>
                  <a:lnTo>
                    <a:pt x="662" y="127"/>
                  </a:lnTo>
                  <a:cubicBezTo>
                    <a:pt x="441" y="127"/>
                    <a:pt x="221" y="95"/>
                    <a:pt x="0" y="1"/>
                  </a:cubicBezTo>
                  <a:lnTo>
                    <a:pt x="0" y="1"/>
                  </a:lnTo>
                  <a:lnTo>
                    <a:pt x="1323" y="1355"/>
                  </a:lnTo>
                  <a:lnTo>
                    <a:pt x="2678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56075" lIns="156075" spcFirstLastPara="1" rIns="156075" wrap="square" tIns="156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78"/>
            <p:cNvSpPr/>
            <p:nvPr/>
          </p:nvSpPr>
          <p:spPr>
            <a:xfrm>
              <a:off x="5875925" y="4153525"/>
              <a:ext cx="120525" cy="105550"/>
            </a:xfrm>
            <a:custGeom>
              <a:rect b="b" l="l" r="r" t="t"/>
              <a:pathLst>
                <a:path extrusionOk="0" h="4222" w="4821">
                  <a:moveTo>
                    <a:pt x="2426" y="2048"/>
                  </a:moveTo>
                  <a:cubicBezTo>
                    <a:pt x="2615" y="2048"/>
                    <a:pt x="2773" y="2205"/>
                    <a:pt x="2773" y="2426"/>
                  </a:cubicBezTo>
                  <a:cubicBezTo>
                    <a:pt x="2773" y="2615"/>
                    <a:pt x="2615" y="2773"/>
                    <a:pt x="2426" y="2773"/>
                  </a:cubicBezTo>
                  <a:lnTo>
                    <a:pt x="1733" y="2773"/>
                  </a:lnTo>
                  <a:cubicBezTo>
                    <a:pt x="1513" y="2773"/>
                    <a:pt x="1355" y="2615"/>
                    <a:pt x="1355" y="2426"/>
                  </a:cubicBezTo>
                  <a:cubicBezTo>
                    <a:pt x="1355" y="2205"/>
                    <a:pt x="1513" y="2048"/>
                    <a:pt x="1733" y="2048"/>
                  </a:cubicBezTo>
                  <a:close/>
                  <a:moveTo>
                    <a:pt x="2552" y="0"/>
                  </a:moveTo>
                  <a:lnTo>
                    <a:pt x="1" y="2584"/>
                  </a:lnTo>
                  <a:lnTo>
                    <a:pt x="1" y="4222"/>
                  </a:lnTo>
                  <a:lnTo>
                    <a:pt x="4474" y="4222"/>
                  </a:lnTo>
                  <a:cubicBezTo>
                    <a:pt x="4663" y="4222"/>
                    <a:pt x="4821" y="4064"/>
                    <a:pt x="4821" y="3875"/>
                  </a:cubicBezTo>
                  <a:lnTo>
                    <a:pt x="4821" y="1733"/>
                  </a:lnTo>
                  <a:cubicBezTo>
                    <a:pt x="4821" y="788"/>
                    <a:pt x="4033" y="0"/>
                    <a:pt x="308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56075" lIns="156075" spcFirstLastPara="1" rIns="156075" wrap="square" tIns="156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78"/>
            <p:cNvSpPr/>
            <p:nvPr/>
          </p:nvSpPr>
          <p:spPr>
            <a:xfrm>
              <a:off x="5754625" y="3963700"/>
              <a:ext cx="224500" cy="154400"/>
            </a:xfrm>
            <a:custGeom>
              <a:rect b="b" l="l" r="r" t="t"/>
              <a:pathLst>
                <a:path extrusionOk="0" h="6176" w="8980">
                  <a:moveTo>
                    <a:pt x="3120" y="1"/>
                  </a:moveTo>
                  <a:cubicBezTo>
                    <a:pt x="1387" y="1"/>
                    <a:pt x="1" y="1418"/>
                    <a:pt x="1" y="3119"/>
                  </a:cubicBezTo>
                  <a:lnTo>
                    <a:pt x="1" y="4506"/>
                  </a:lnTo>
                  <a:cubicBezTo>
                    <a:pt x="1" y="5325"/>
                    <a:pt x="568" y="6018"/>
                    <a:pt x="1355" y="6175"/>
                  </a:cubicBezTo>
                  <a:lnTo>
                    <a:pt x="1355" y="2773"/>
                  </a:lnTo>
                  <a:lnTo>
                    <a:pt x="1009" y="2773"/>
                  </a:lnTo>
                  <a:cubicBezTo>
                    <a:pt x="914" y="2773"/>
                    <a:pt x="820" y="2804"/>
                    <a:pt x="694" y="2804"/>
                  </a:cubicBezTo>
                  <a:cubicBezTo>
                    <a:pt x="851" y="1607"/>
                    <a:pt x="1860" y="662"/>
                    <a:pt x="3120" y="662"/>
                  </a:cubicBezTo>
                  <a:lnTo>
                    <a:pt x="5861" y="662"/>
                  </a:lnTo>
                  <a:cubicBezTo>
                    <a:pt x="7089" y="662"/>
                    <a:pt x="8098" y="1607"/>
                    <a:pt x="8255" y="2804"/>
                  </a:cubicBezTo>
                  <a:cubicBezTo>
                    <a:pt x="8161" y="2773"/>
                    <a:pt x="8066" y="2773"/>
                    <a:pt x="7940" y="2773"/>
                  </a:cubicBezTo>
                  <a:lnTo>
                    <a:pt x="7593" y="2773"/>
                  </a:lnTo>
                  <a:lnTo>
                    <a:pt x="7593" y="6175"/>
                  </a:lnTo>
                  <a:cubicBezTo>
                    <a:pt x="8381" y="6018"/>
                    <a:pt x="8980" y="5325"/>
                    <a:pt x="8980" y="4506"/>
                  </a:cubicBezTo>
                  <a:lnTo>
                    <a:pt x="8980" y="3119"/>
                  </a:lnTo>
                  <a:cubicBezTo>
                    <a:pt x="8980" y="1387"/>
                    <a:pt x="7562" y="1"/>
                    <a:pt x="586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56075" lIns="156075" spcFirstLastPara="1" rIns="156075" wrap="square" tIns="156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78"/>
            <p:cNvSpPr/>
            <p:nvPr/>
          </p:nvSpPr>
          <p:spPr>
            <a:xfrm>
              <a:off x="5806625" y="3998350"/>
              <a:ext cx="69325" cy="52025"/>
            </a:xfrm>
            <a:custGeom>
              <a:rect b="b" l="l" r="r" t="t"/>
              <a:pathLst>
                <a:path extrusionOk="0" h="2081" w="2773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lnTo>
                    <a:pt x="0" y="2080"/>
                  </a:lnTo>
                  <a:lnTo>
                    <a:pt x="1733" y="2080"/>
                  </a:lnTo>
                  <a:cubicBezTo>
                    <a:pt x="2300" y="2049"/>
                    <a:pt x="2773" y="1607"/>
                    <a:pt x="2773" y="1009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56075" lIns="156075" spcFirstLastPara="1" rIns="156075" wrap="square" tIns="156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78"/>
            <p:cNvSpPr/>
            <p:nvPr/>
          </p:nvSpPr>
          <p:spPr>
            <a:xfrm>
              <a:off x="5893250" y="3999150"/>
              <a:ext cx="34675" cy="51225"/>
            </a:xfrm>
            <a:custGeom>
              <a:rect b="b" l="l" r="r" t="t"/>
              <a:pathLst>
                <a:path extrusionOk="0" h="2049" w="1387">
                  <a:moveTo>
                    <a:pt x="1" y="0"/>
                  </a:moveTo>
                  <a:lnTo>
                    <a:pt x="1" y="1040"/>
                  </a:lnTo>
                  <a:cubicBezTo>
                    <a:pt x="1" y="1607"/>
                    <a:pt x="473" y="2048"/>
                    <a:pt x="1040" y="2048"/>
                  </a:cubicBezTo>
                  <a:lnTo>
                    <a:pt x="1387" y="2048"/>
                  </a:lnTo>
                  <a:lnTo>
                    <a:pt x="1387" y="1701"/>
                  </a:lnTo>
                  <a:cubicBezTo>
                    <a:pt x="1387" y="882"/>
                    <a:pt x="788" y="158"/>
                    <a:pt x="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56075" lIns="156075" spcFirstLastPara="1" rIns="156075" wrap="square" tIns="156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78"/>
            <p:cNvSpPr/>
            <p:nvPr/>
          </p:nvSpPr>
          <p:spPr>
            <a:xfrm>
              <a:off x="5806625" y="4049550"/>
              <a:ext cx="121300" cy="104000"/>
            </a:xfrm>
            <a:custGeom>
              <a:rect b="b" l="l" r="r" t="t"/>
              <a:pathLst>
                <a:path extrusionOk="0" h="4160" w="4852">
                  <a:moveTo>
                    <a:pt x="3119" y="1"/>
                  </a:moveTo>
                  <a:cubicBezTo>
                    <a:pt x="2804" y="442"/>
                    <a:pt x="2300" y="694"/>
                    <a:pt x="1733" y="694"/>
                  </a:cubicBezTo>
                  <a:lnTo>
                    <a:pt x="0" y="694"/>
                  </a:lnTo>
                  <a:lnTo>
                    <a:pt x="0" y="2426"/>
                  </a:lnTo>
                  <a:cubicBezTo>
                    <a:pt x="0" y="3372"/>
                    <a:pt x="788" y="4159"/>
                    <a:pt x="1733" y="4159"/>
                  </a:cubicBezTo>
                  <a:lnTo>
                    <a:pt x="3119" y="4159"/>
                  </a:lnTo>
                  <a:cubicBezTo>
                    <a:pt x="4064" y="4159"/>
                    <a:pt x="4852" y="3372"/>
                    <a:pt x="4852" y="2426"/>
                  </a:cubicBezTo>
                  <a:lnTo>
                    <a:pt x="4852" y="694"/>
                  </a:lnTo>
                  <a:lnTo>
                    <a:pt x="4505" y="694"/>
                  </a:lnTo>
                  <a:cubicBezTo>
                    <a:pt x="3938" y="694"/>
                    <a:pt x="3434" y="442"/>
                    <a:pt x="311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56075" lIns="156075" spcFirstLastPara="1" rIns="156075" wrap="square" tIns="156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78" name="Google Shape;778;p78" title="Знімок екрана 2026-04-01 013411.png"/>
          <p:cNvPicPr preferRelativeResize="0"/>
          <p:nvPr/>
        </p:nvPicPr>
        <p:blipFill rotWithShape="1">
          <a:blip r:embed="rId3">
            <a:alphaModFix/>
          </a:blip>
          <a:srcRect b="4570" l="775" r="2382" t="4941"/>
          <a:stretch/>
        </p:blipFill>
        <p:spPr>
          <a:xfrm>
            <a:off x="674488" y="952475"/>
            <a:ext cx="7795023" cy="15402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79" name="Google Shape;779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9"/>
          <p:cNvSpPr txBox="1"/>
          <p:nvPr>
            <p:ph idx="4294967295" type="ctrTitle"/>
          </p:nvPr>
        </p:nvSpPr>
        <p:spPr>
          <a:xfrm>
            <a:off x="864525" y="-69925"/>
            <a:ext cx="71745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Analyse der Zahlungen und Produkte</a:t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85" name="Google Shape;785;p79"/>
          <p:cNvSpPr txBox="1"/>
          <p:nvPr/>
        </p:nvSpPr>
        <p:spPr>
          <a:xfrm>
            <a:off x="78600" y="1121100"/>
            <a:ext cx="48414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Beliebtheit vs. Profitabilität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Recurring Payments (Skalierung): Die am häufigsten gewählte Option.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One Payment (Gewinn): Spitzenreiter bei Durchschnittswert und Conversion. 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Reservation (Prozess): Minimaler Einfluss auf den Ertrag. 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786" name="Google Shape;786;p79"/>
          <p:cNvGrpSpPr/>
          <p:nvPr/>
        </p:nvGrpSpPr>
        <p:grpSpPr>
          <a:xfrm>
            <a:off x="7815626" y="167979"/>
            <a:ext cx="555376" cy="546603"/>
            <a:chOff x="2404875" y="3592725"/>
            <a:chExt cx="298525" cy="293825"/>
          </a:xfrm>
        </p:grpSpPr>
        <p:sp>
          <p:nvSpPr>
            <p:cNvPr id="787" name="Google Shape;787;p79"/>
            <p:cNvSpPr/>
            <p:nvPr/>
          </p:nvSpPr>
          <p:spPr>
            <a:xfrm>
              <a:off x="2404875" y="3747900"/>
              <a:ext cx="52775" cy="138650"/>
            </a:xfrm>
            <a:custGeom>
              <a:rect b="b" l="l" r="r" t="t"/>
              <a:pathLst>
                <a:path extrusionOk="0" h="5546" w="2111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98"/>
                  </a:lnTo>
                  <a:cubicBezTo>
                    <a:pt x="0" y="5419"/>
                    <a:pt x="158" y="5545"/>
                    <a:pt x="378" y="5545"/>
                  </a:cubicBezTo>
                  <a:lnTo>
                    <a:pt x="1071" y="5545"/>
                  </a:lnTo>
                  <a:cubicBezTo>
                    <a:pt x="1670" y="5545"/>
                    <a:pt x="2111" y="5072"/>
                    <a:pt x="2111" y="4537"/>
                  </a:cubicBezTo>
                  <a:lnTo>
                    <a:pt x="2111" y="1040"/>
                  </a:lnTo>
                  <a:cubicBezTo>
                    <a:pt x="2111" y="441"/>
                    <a:pt x="1638" y="0"/>
                    <a:pt x="107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43875" lIns="143875" spcFirstLastPara="1" rIns="143875" wrap="square" tIns="143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79"/>
            <p:cNvSpPr/>
            <p:nvPr/>
          </p:nvSpPr>
          <p:spPr>
            <a:xfrm>
              <a:off x="2458425" y="3592725"/>
              <a:ext cx="190625" cy="160700"/>
            </a:xfrm>
            <a:custGeom>
              <a:rect b="b" l="l" r="r" t="t"/>
              <a:pathLst>
                <a:path extrusionOk="0" h="6428" w="7625">
                  <a:moveTo>
                    <a:pt x="3781" y="631"/>
                  </a:moveTo>
                  <a:cubicBezTo>
                    <a:pt x="3970" y="631"/>
                    <a:pt x="4128" y="788"/>
                    <a:pt x="4128" y="977"/>
                  </a:cubicBezTo>
                  <a:lnTo>
                    <a:pt x="4128" y="1418"/>
                  </a:lnTo>
                  <a:cubicBezTo>
                    <a:pt x="4380" y="1481"/>
                    <a:pt x="4569" y="1639"/>
                    <a:pt x="4758" y="1860"/>
                  </a:cubicBezTo>
                  <a:cubicBezTo>
                    <a:pt x="4884" y="2017"/>
                    <a:pt x="4884" y="2206"/>
                    <a:pt x="4726" y="2332"/>
                  </a:cubicBezTo>
                  <a:cubicBezTo>
                    <a:pt x="4657" y="2373"/>
                    <a:pt x="4583" y="2397"/>
                    <a:pt x="4510" y="2397"/>
                  </a:cubicBezTo>
                  <a:cubicBezTo>
                    <a:pt x="4416" y="2397"/>
                    <a:pt x="4325" y="2358"/>
                    <a:pt x="4254" y="2269"/>
                  </a:cubicBezTo>
                  <a:cubicBezTo>
                    <a:pt x="4114" y="2106"/>
                    <a:pt x="3957" y="2012"/>
                    <a:pt x="3821" y="2012"/>
                  </a:cubicBezTo>
                  <a:cubicBezTo>
                    <a:pt x="3773" y="2012"/>
                    <a:pt x="3728" y="2024"/>
                    <a:pt x="3687" y="2049"/>
                  </a:cubicBezTo>
                  <a:cubicBezTo>
                    <a:pt x="3592" y="2080"/>
                    <a:pt x="3466" y="2238"/>
                    <a:pt x="3466" y="2364"/>
                  </a:cubicBezTo>
                  <a:cubicBezTo>
                    <a:pt x="3466" y="2553"/>
                    <a:pt x="3624" y="2710"/>
                    <a:pt x="3813" y="2710"/>
                  </a:cubicBezTo>
                  <a:cubicBezTo>
                    <a:pt x="4411" y="2710"/>
                    <a:pt x="4852" y="3183"/>
                    <a:pt x="4852" y="3750"/>
                  </a:cubicBezTo>
                  <a:cubicBezTo>
                    <a:pt x="4852" y="4159"/>
                    <a:pt x="4600" y="4537"/>
                    <a:pt x="4222" y="4663"/>
                  </a:cubicBezTo>
                  <a:lnTo>
                    <a:pt x="4159" y="4663"/>
                  </a:lnTo>
                  <a:lnTo>
                    <a:pt x="4159" y="5073"/>
                  </a:lnTo>
                  <a:cubicBezTo>
                    <a:pt x="4159" y="5262"/>
                    <a:pt x="4002" y="5420"/>
                    <a:pt x="3813" y="5420"/>
                  </a:cubicBezTo>
                  <a:cubicBezTo>
                    <a:pt x="3624" y="5420"/>
                    <a:pt x="3466" y="5262"/>
                    <a:pt x="3466" y="5073"/>
                  </a:cubicBezTo>
                  <a:lnTo>
                    <a:pt x="3466" y="4663"/>
                  </a:lnTo>
                  <a:cubicBezTo>
                    <a:pt x="3277" y="4600"/>
                    <a:pt x="3119" y="4537"/>
                    <a:pt x="2962" y="4348"/>
                  </a:cubicBezTo>
                  <a:cubicBezTo>
                    <a:pt x="2836" y="4254"/>
                    <a:pt x="2804" y="4002"/>
                    <a:pt x="2962" y="3876"/>
                  </a:cubicBezTo>
                  <a:cubicBezTo>
                    <a:pt x="3013" y="3825"/>
                    <a:pt x="3108" y="3793"/>
                    <a:pt x="3206" y="3793"/>
                  </a:cubicBezTo>
                  <a:cubicBezTo>
                    <a:pt x="3290" y="3793"/>
                    <a:pt x="3376" y="3817"/>
                    <a:pt x="3435" y="3876"/>
                  </a:cubicBezTo>
                  <a:cubicBezTo>
                    <a:pt x="3549" y="3990"/>
                    <a:pt x="3679" y="4071"/>
                    <a:pt x="3803" y="4071"/>
                  </a:cubicBezTo>
                  <a:cubicBezTo>
                    <a:pt x="3850" y="4071"/>
                    <a:pt x="3895" y="4059"/>
                    <a:pt x="3939" y="4033"/>
                  </a:cubicBezTo>
                  <a:cubicBezTo>
                    <a:pt x="4065" y="4002"/>
                    <a:pt x="4128" y="3844"/>
                    <a:pt x="4128" y="3718"/>
                  </a:cubicBezTo>
                  <a:cubicBezTo>
                    <a:pt x="4128" y="3529"/>
                    <a:pt x="3970" y="3372"/>
                    <a:pt x="3781" y="3372"/>
                  </a:cubicBezTo>
                  <a:cubicBezTo>
                    <a:pt x="3182" y="3372"/>
                    <a:pt x="2741" y="2899"/>
                    <a:pt x="2741" y="2364"/>
                  </a:cubicBezTo>
                  <a:cubicBezTo>
                    <a:pt x="2741" y="1954"/>
                    <a:pt x="3025" y="1576"/>
                    <a:pt x="3435" y="1418"/>
                  </a:cubicBezTo>
                  <a:lnTo>
                    <a:pt x="3435" y="977"/>
                  </a:lnTo>
                  <a:cubicBezTo>
                    <a:pt x="3435" y="788"/>
                    <a:pt x="3592" y="631"/>
                    <a:pt x="3781" y="631"/>
                  </a:cubicBezTo>
                  <a:close/>
                  <a:moveTo>
                    <a:pt x="3813" y="1"/>
                  </a:moveTo>
                  <a:cubicBezTo>
                    <a:pt x="1733" y="1"/>
                    <a:pt x="0" y="1734"/>
                    <a:pt x="0" y="3813"/>
                  </a:cubicBezTo>
                  <a:cubicBezTo>
                    <a:pt x="0" y="4537"/>
                    <a:pt x="190" y="5231"/>
                    <a:pt x="536" y="5829"/>
                  </a:cubicBezTo>
                  <a:cubicBezTo>
                    <a:pt x="1009" y="5546"/>
                    <a:pt x="1544" y="5420"/>
                    <a:pt x="2080" y="5420"/>
                  </a:cubicBezTo>
                  <a:cubicBezTo>
                    <a:pt x="2146" y="5414"/>
                    <a:pt x="2213" y="5411"/>
                    <a:pt x="2279" y="5411"/>
                  </a:cubicBezTo>
                  <a:cubicBezTo>
                    <a:pt x="2936" y="5411"/>
                    <a:pt x="3587" y="5692"/>
                    <a:pt x="4159" y="6207"/>
                  </a:cubicBezTo>
                  <a:lnTo>
                    <a:pt x="5892" y="6207"/>
                  </a:lnTo>
                  <a:cubicBezTo>
                    <a:pt x="6144" y="6207"/>
                    <a:pt x="6364" y="6302"/>
                    <a:pt x="6585" y="6428"/>
                  </a:cubicBezTo>
                  <a:cubicBezTo>
                    <a:pt x="7215" y="5735"/>
                    <a:pt x="7625" y="4789"/>
                    <a:pt x="7625" y="3813"/>
                  </a:cubicBezTo>
                  <a:cubicBezTo>
                    <a:pt x="7625" y="1734"/>
                    <a:pt x="5892" y="1"/>
                    <a:pt x="3813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43875" lIns="143875" spcFirstLastPara="1" rIns="143875" wrap="square" tIns="143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79"/>
            <p:cNvSpPr/>
            <p:nvPr/>
          </p:nvSpPr>
          <p:spPr>
            <a:xfrm>
              <a:off x="2474975" y="3742775"/>
              <a:ext cx="228425" cy="125650"/>
            </a:xfrm>
            <a:custGeom>
              <a:rect b="b" l="l" r="r" t="t"/>
              <a:pathLst>
                <a:path extrusionOk="0" h="5026" w="9137">
                  <a:moveTo>
                    <a:pt x="1422" y="0"/>
                  </a:moveTo>
                  <a:cubicBezTo>
                    <a:pt x="918" y="0"/>
                    <a:pt x="416" y="160"/>
                    <a:pt x="0" y="457"/>
                  </a:cubicBezTo>
                  <a:lnTo>
                    <a:pt x="0" y="5025"/>
                  </a:lnTo>
                  <a:lnTo>
                    <a:pt x="5230" y="5025"/>
                  </a:lnTo>
                  <a:cubicBezTo>
                    <a:pt x="5923" y="5025"/>
                    <a:pt x="6490" y="4679"/>
                    <a:pt x="6900" y="4143"/>
                  </a:cubicBezTo>
                  <a:lnTo>
                    <a:pt x="8916" y="1245"/>
                  </a:lnTo>
                  <a:cubicBezTo>
                    <a:pt x="9137" y="930"/>
                    <a:pt x="9074" y="489"/>
                    <a:pt x="8727" y="268"/>
                  </a:cubicBezTo>
                  <a:cubicBezTo>
                    <a:pt x="8633" y="221"/>
                    <a:pt x="8517" y="196"/>
                    <a:pt x="8398" y="196"/>
                  </a:cubicBezTo>
                  <a:cubicBezTo>
                    <a:pt x="8196" y="196"/>
                    <a:pt x="7983" y="268"/>
                    <a:pt x="7845" y="426"/>
                  </a:cubicBezTo>
                  <a:lnTo>
                    <a:pt x="5955" y="2726"/>
                  </a:lnTo>
                  <a:cubicBezTo>
                    <a:pt x="5829" y="2883"/>
                    <a:pt x="5545" y="2978"/>
                    <a:pt x="5419" y="2978"/>
                  </a:cubicBezTo>
                  <a:lnTo>
                    <a:pt x="3119" y="2978"/>
                  </a:lnTo>
                  <a:cubicBezTo>
                    <a:pt x="2899" y="2978"/>
                    <a:pt x="2741" y="2820"/>
                    <a:pt x="2741" y="2631"/>
                  </a:cubicBezTo>
                  <a:cubicBezTo>
                    <a:pt x="2741" y="2411"/>
                    <a:pt x="2899" y="2253"/>
                    <a:pt x="3119" y="2253"/>
                  </a:cubicBezTo>
                  <a:lnTo>
                    <a:pt x="5198" y="2253"/>
                  </a:lnTo>
                  <a:cubicBezTo>
                    <a:pt x="5576" y="2253"/>
                    <a:pt x="5923" y="1938"/>
                    <a:pt x="5923" y="1560"/>
                  </a:cubicBezTo>
                  <a:cubicBezTo>
                    <a:pt x="5923" y="1150"/>
                    <a:pt x="5576" y="835"/>
                    <a:pt x="5198" y="835"/>
                  </a:cubicBezTo>
                  <a:lnTo>
                    <a:pt x="3340" y="835"/>
                  </a:lnTo>
                  <a:cubicBezTo>
                    <a:pt x="3182" y="835"/>
                    <a:pt x="3088" y="741"/>
                    <a:pt x="2962" y="615"/>
                  </a:cubicBezTo>
                  <a:cubicBezTo>
                    <a:pt x="2773" y="426"/>
                    <a:pt x="2520" y="300"/>
                    <a:pt x="2300" y="174"/>
                  </a:cubicBezTo>
                  <a:cubicBezTo>
                    <a:pt x="2019" y="56"/>
                    <a:pt x="1720" y="0"/>
                    <a:pt x="142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43875" lIns="143875" spcFirstLastPara="1" rIns="143875" wrap="square" tIns="143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0" name="Google Shape;790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1" name="Google Shape;79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1100" y="1104875"/>
            <a:ext cx="3660500" cy="306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80"/>
          <p:cNvSpPr txBox="1"/>
          <p:nvPr>
            <p:ph idx="4294967295" type="ctrTitle"/>
          </p:nvPr>
        </p:nvSpPr>
        <p:spPr>
          <a:xfrm>
            <a:off x="864525" y="-69925"/>
            <a:ext cx="71745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Analyse der Zahlungen und Produkte</a:t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97" name="Google Shape;797;p80"/>
          <p:cNvSpPr txBox="1"/>
          <p:nvPr/>
        </p:nvSpPr>
        <p:spPr>
          <a:xfrm>
            <a:off x="261275" y="714575"/>
            <a:ext cx="4684200" cy="25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Produktportfolio: Ertrag und Effizienz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Digital Marketing (Zugpferd-Produkt): Bringt über 55 % des Gesamtertrags (über $2,1 Mio.). Die Hauptgewinnquelle mit dem maximalen ROI.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IT-Bereiche (UX/UI &amp; Web Dev): Sichern stabile 45 % des Umsatzes. Wichtige Segmente zur Diversifizierung unserer Einnahmen.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798" name="Google Shape;798;p80"/>
          <p:cNvGrpSpPr/>
          <p:nvPr/>
        </p:nvGrpSpPr>
        <p:grpSpPr>
          <a:xfrm>
            <a:off x="7815626" y="167979"/>
            <a:ext cx="555376" cy="546603"/>
            <a:chOff x="2404875" y="3592725"/>
            <a:chExt cx="298525" cy="293825"/>
          </a:xfrm>
        </p:grpSpPr>
        <p:sp>
          <p:nvSpPr>
            <p:cNvPr id="799" name="Google Shape;799;p80"/>
            <p:cNvSpPr/>
            <p:nvPr/>
          </p:nvSpPr>
          <p:spPr>
            <a:xfrm>
              <a:off x="2404875" y="3747900"/>
              <a:ext cx="52775" cy="138650"/>
            </a:xfrm>
            <a:custGeom>
              <a:rect b="b" l="l" r="r" t="t"/>
              <a:pathLst>
                <a:path extrusionOk="0" h="5546" w="2111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98"/>
                  </a:lnTo>
                  <a:cubicBezTo>
                    <a:pt x="0" y="5419"/>
                    <a:pt x="158" y="5545"/>
                    <a:pt x="378" y="5545"/>
                  </a:cubicBezTo>
                  <a:lnTo>
                    <a:pt x="1071" y="5545"/>
                  </a:lnTo>
                  <a:cubicBezTo>
                    <a:pt x="1670" y="5545"/>
                    <a:pt x="2111" y="5072"/>
                    <a:pt x="2111" y="4537"/>
                  </a:cubicBezTo>
                  <a:lnTo>
                    <a:pt x="2111" y="1040"/>
                  </a:lnTo>
                  <a:cubicBezTo>
                    <a:pt x="2111" y="441"/>
                    <a:pt x="1638" y="0"/>
                    <a:pt x="107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43875" lIns="143875" spcFirstLastPara="1" rIns="143875" wrap="square" tIns="143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80"/>
            <p:cNvSpPr/>
            <p:nvPr/>
          </p:nvSpPr>
          <p:spPr>
            <a:xfrm>
              <a:off x="2458425" y="3592725"/>
              <a:ext cx="190625" cy="160700"/>
            </a:xfrm>
            <a:custGeom>
              <a:rect b="b" l="l" r="r" t="t"/>
              <a:pathLst>
                <a:path extrusionOk="0" h="6428" w="7625">
                  <a:moveTo>
                    <a:pt x="3781" y="631"/>
                  </a:moveTo>
                  <a:cubicBezTo>
                    <a:pt x="3970" y="631"/>
                    <a:pt x="4128" y="788"/>
                    <a:pt x="4128" y="977"/>
                  </a:cubicBezTo>
                  <a:lnTo>
                    <a:pt x="4128" y="1418"/>
                  </a:lnTo>
                  <a:cubicBezTo>
                    <a:pt x="4380" y="1481"/>
                    <a:pt x="4569" y="1639"/>
                    <a:pt x="4758" y="1860"/>
                  </a:cubicBezTo>
                  <a:cubicBezTo>
                    <a:pt x="4884" y="2017"/>
                    <a:pt x="4884" y="2206"/>
                    <a:pt x="4726" y="2332"/>
                  </a:cubicBezTo>
                  <a:cubicBezTo>
                    <a:pt x="4657" y="2373"/>
                    <a:pt x="4583" y="2397"/>
                    <a:pt x="4510" y="2397"/>
                  </a:cubicBezTo>
                  <a:cubicBezTo>
                    <a:pt x="4416" y="2397"/>
                    <a:pt x="4325" y="2358"/>
                    <a:pt x="4254" y="2269"/>
                  </a:cubicBezTo>
                  <a:cubicBezTo>
                    <a:pt x="4114" y="2106"/>
                    <a:pt x="3957" y="2012"/>
                    <a:pt x="3821" y="2012"/>
                  </a:cubicBezTo>
                  <a:cubicBezTo>
                    <a:pt x="3773" y="2012"/>
                    <a:pt x="3728" y="2024"/>
                    <a:pt x="3687" y="2049"/>
                  </a:cubicBezTo>
                  <a:cubicBezTo>
                    <a:pt x="3592" y="2080"/>
                    <a:pt x="3466" y="2238"/>
                    <a:pt x="3466" y="2364"/>
                  </a:cubicBezTo>
                  <a:cubicBezTo>
                    <a:pt x="3466" y="2553"/>
                    <a:pt x="3624" y="2710"/>
                    <a:pt x="3813" y="2710"/>
                  </a:cubicBezTo>
                  <a:cubicBezTo>
                    <a:pt x="4411" y="2710"/>
                    <a:pt x="4852" y="3183"/>
                    <a:pt x="4852" y="3750"/>
                  </a:cubicBezTo>
                  <a:cubicBezTo>
                    <a:pt x="4852" y="4159"/>
                    <a:pt x="4600" y="4537"/>
                    <a:pt x="4222" y="4663"/>
                  </a:cubicBezTo>
                  <a:lnTo>
                    <a:pt x="4159" y="4663"/>
                  </a:lnTo>
                  <a:lnTo>
                    <a:pt x="4159" y="5073"/>
                  </a:lnTo>
                  <a:cubicBezTo>
                    <a:pt x="4159" y="5262"/>
                    <a:pt x="4002" y="5420"/>
                    <a:pt x="3813" y="5420"/>
                  </a:cubicBezTo>
                  <a:cubicBezTo>
                    <a:pt x="3624" y="5420"/>
                    <a:pt x="3466" y="5262"/>
                    <a:pt x="3466" y="5073"/>
                  </a:cubicBezTo>
                  <a:lnTo>
                    <a:pt x="3466" y="4663"/>
                  </a:lnTo>
                  <a:cubicBezTo>
                    <a:pt x="3277" y="4600"/>
                    <a:pt x="3119" y="4537"/>
                    <a:pt x="2962" y="4348"/>
                  </a:cubicBezTo>
                  <a:cubicBezTo>
                    <a:pt x="2836" y="4254"/>
                    <a:pt x="2804" y="4002"/>
                    <a:pt x="2962" y="3876"/>
                  </a:cubicBezTo>
                  <a:cubicBezTo>
                    <a:pt x="3013" y="3825"/>
                    <a:pt x="3108" y="3793"/>
                    <a:pt x="3206" y="3793"/>
                  </a:cubicBezTo>
                  <a:cubicBezTo>
                    <a:pt x="3290" y="3793"/>
                    <a:pt x="3376" y="3817"/>
                    <a:pt x="3435" y="3876"/>
                  </a:cubicBezTo>
                  <a:cubicBezTo>
                    <a:pt x="3549" y="3990"/>
                    <a:pt x="3679" y="4071"/>
                    <a:pt x="3803" y="4071"/>
                  </a:cubicBezTo>
                  <a:cubicBezTo>
                    <a:pt x="3850" y="4071"/>
                    <a:pt x="3895" y="4059"/>
                    <a:pt x="3939" y="4033"/>
                  </a:cubicBezTo>
                  <a:cubicBezTo>
                    <a:pt x="4065" y="4002"/>
                    <a:pt x="4128" y="3844"/>
                    <a:pt x="4128" y="3718"/>
                  </a:cubicBezTo>
                  <a:cubicBezTo>
                    <a:pt x="4128" y="3529"/>
                    <a:pt x="3970" y="3372"/>
                    <a:pt x="3781" y="3372"/>
                  </a:cubicBezTo>
                  <a:cubicBezTo>
                    <a:pt x="3182" y="3372"/>
                    <a:pt x="2741" y="2899"/>
                    <a:pt x="2741" y="2364"/>
                  </a:cubicBezTo>
                  <a:cubicBezTo>
                    <a:pt x="2741" y="1954"/>
                    <a:pt x="3025" y="1576"/>
                    <a:pt x="3435" y="1418"/>
                  </a:cubicBezTo>
                  <a:lnTo>
                    <a:pt x="3435" y="977"/>
                  </a:lnTo>
                  <a:cubicBezTo>
                    <a:pt x="3435" y="788"/>
                    <a:pt x="3592" y="631"/>
                    <a:pt x="3781" y="631"/>
                  </a:cubicBezTo>
                  <a:close/>
                  <a:moveTo>
                    <a:pt x="3813" y="1"/>
                  </a:moveTo>
                  <a:cubicBezTo>
                    <a:pt x="1733" y="1"/>
                    <a:pt x="0" y="1734"/>
                    <a:pt x="0" y="3813"/>
                  </a:cubicBezTo>
                  <a:cubicBezTo>
                    <a:pt x="0" y="4537"/>
                    <a:pt x="190" y="5231"/>
                    <a:pt x="536" y="5829"/>
                  </a:cubicBezTo>
                  <a:cubicBezTo>
                    <a:pt x="1009" y="5546"/>
                    <a:pt x="1544" y="5420"/>
                    <a:pt x="2080" y="5420"/>
                  </a:cubicBezTo>
                  <a:cubicBezTo>
                    <a:pt x="2146" y="5414"/>
                    <a:pt x="2213" y="5411"/>
                    <a:pt x="2279" y="5411"/>
                  </a:cubicBezTo>
                  <a:cubicBezTo>
                    <a:pt x="2936" y="5411"/>
                    <a:pt x="3587" y="5692"/>
                    <a:pt x="4159" y="6207"/>
                  </a:cubicBezTo>
                  <a:lnTo>
                    <a:pt x="5892" y="6207"/>
                  </a:lnTo>
                  <a:cubicBezTo>
                    <a:pt x="6144" y="6207"/>
                    <a:pt x="6364" y="6302"/>
                    <a:pt x="6585" y="6428"/>
                  </a:cubicBezTo>
                  <a:cubicBezTo>
                    <a:pt x="7215" y="5735"/>
                    <a:pt x="7625" y="4789"/>
                    <a:pt x="7625" y="3813"/>
                  </a:cubicBezTo>
                  <a:cubicBezTo>
                    <a:pt x="7625" y="1734"/>
                    <a:pt x="5892" y="1"/>
                    <a:pt x="3813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43875" lIns="143875" spcFirstLastPara="1" rIns="143875" wrap="square" tIns="143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80"/>
            <p:cNvSpPr/>
            <p:nvPr/>
          </p:nvSpPr>
          <p:spPr>
            <a:xfrm>
              <a:off x="2474975" y="3742775"/>
              <a:ext cx="228425" cy="125650"/>
            </a:xfrm>
            <a:custGeom>
              <a:rect b="b" l="l" r="r" t="t"/>
              <a:pathLst>
                <a:path extrusionOk="0" h="5026" w="9137">
                  <a:moveTo>
                    <a:pt x="1422" y="0"/>
                  </a:moveTo>
                  <a:cubicBezTo>
                    <a:pt x="918" y="0"/>
                    <a:pt x="416" y="160"/>
                    <a:pt x="0" y="457"/>
                  </a:cubicBezTo>
                  <a:lnTo>
                    <a:pt x="0" y="5025"/>
                  </a:lnTo>
                  <a:lnTo>
                    <a:pt x="5230" y="5025"/>
                  </a:lnTo>
                  <a:cubicBezTo>
                    <a:pt x="5923" y="5025"/>
                    <a:pt x="6490" y="4679"/>
                    <a:pt x="6900" y="4143"/>
                  </a:cubicBezTo>
                  <a:lnTo>
                    <a:pt x="8916" y="1245"/>
                  </a:lnTo>
                  <a:cubicBezTo>
                    <a:pt x="9137" y="930"/>
                    <a:pt x="9074" y="489"/>
                    <a:pt x="8727" y="268"/>
                  </a:cubicBezTo>
                  <a:cubicBezTo>
                    <a:pt x="8633" y="221"/>
                    <a:pt x="8517" y="196"/>
                    <a:pt x="8398" y="196"/>
                  </a:cubicBezTo>
                  <a:cubicBezTo>
                    <a:pt x="8196" y="196"/>
                    <a:pt x="7983" y="268"/>
                    <a:pt x="7845" y="426"/>
                  </a:cubicBezTo>
                  <a:lnTo>
                    <a:pt x="5955" y="2726"/>
                  </a:lnTo>
                  <a:cubicBezTo>
                    <a:pt x="5829" y="2883"/>
                    <a:pt x="5545" y="2978"/>
                    <a:pt x="5419" y="2978"/>
                  </a:cubicBezTo>
                  <a:lnTo>
                    <a:pt x="3119" y="2978"/>
                  </a:lnTo>
                  <a:cubicBezTo>
                    <a:pt x="2899" y="2978"/>
                    <a:pt x="2741" y="2820"/>
                    <a:pt x="2741" y="2631"/>
                  </a:cubicBezTo>
                  <a:cubicBezTo>
                    <a:pt x="2741" y="2411"/>
                    <a:pt x="2899" y="2253"/>
                    <a:pt x="3119" y="2253"/>
                  </a:cubicBezTo>
                  <a:lnTo>
                    <a:pt x="5198" y="2253"/>
                  </a:lnTo>
                  <a:cubicBezTo>
                    <a:pt x="5576" y="2253"/>
                    <a:pt x="5923" y="1938"/>
                    <a:pt x="5923" y="1560"/>
                  </a:cubicBezTo>
                  <a:cubicBezTo>
                    <a:pt x="5923" y="1150"/>
                    <a:pt x="5576" y="835"/>
                    <a:pt x="5198" y="835"/>
                  </a:cubicBezTo>
                  <a:lnTo>
                    <a:pt x="3340" y="835"/>
                  </a:lnTo>
                  <a:cubicBezTo>
                    <a:pt x="3182" y="835"/>
                    <a:pt x="3088" y="741"/>
                    <a:pt x="2962" y="615"/>
                  </a:cubicBezTo>
                  <a:cubicBezTo>
                    <a:pt x="2773" y="426"/>
                    <a:pt x="2520" y="300"/>
                    <a:pt x="2300" y="174"/>
                  </a:cubicBezTo>
                  <a:cubicBezTo>
                    <a:pt x="2019" y="56"/>
                    <a:pt x="1720" y="0"/>
                    <a:pt x="142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43875" lIns="143875" spcFirstLastPara="1" rIns="143875" wrap="square" tIns="143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02" name="Google Shape;802;p80"/>
          <p:cNvPicPr preferRelativeResize="0"/>
          <p:nvPr/>
        </p:nvPicPr>
        <p:blipFill rotWithShape="1">
          <a:blip r:embed="rId3">
            <a:alphaModFix/>
          </a:blip>
          <a:srcRect b="0" l="6534" r="16596" t="0"/>
          <a:stretch/>
        </p:blipFill>
        <p:spPr>
          <a:xfrm>
            <a:off x="5391150" y="1177725"/>
            <a:ext cx="2979850" cy="28926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76200">
              <a:srgbClr val="000000">
                <a:alpha val="50000"/>
              </a:srgbClr>
            </a:outerShdw>
          </a:effectLst>
        </p:spPr>
      </p:pic>
      <p:sp>
        <p:nvSpPr>
          <p:cNvPr id="803" name="Google Shape;803;p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81"/>
          <p:cNvSpPr txBox="1"/>
          <p:nvPr>
            <p:ph idx="4294967295" type="ctrTitle"/>
          </p:nvPr>
        </p:nvSpPr>
        <p:spPr>
          <a:xfrm>
            <a:off x="864525" y="-69925"/>
            <a:ext cx="71745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Geografische Analyse</a:t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09" name="Google Shape;809;p81"/>
          <p:cNvSpPr txBox="1"/>
          <p:nvPr/>
        </p:nvSpPr>
        <p:spPr>
          <a:xfrm>
            <a:off x="325325" y="2768150"/>
            <a:ext cx="7119300" cy="25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Verkaufsgeografie: Schlüsselregionen und Profitabilität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Berlin – Das Profit-Zentrum: Unangefochtener Spitzenreiter mit einem Umsatz von $186.150. Berlin generiert 2,5-mal mehr Ertrag als jede andere Stadt.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Die „Großen Drei“: Berlin, München und Hamburg bilden das Kernstück unseres Geschäfts и über 60 % des gesamten Top-Städte-Umsatzes.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10" name="Google Shape;810;p81"/>
          <p:cNvPicPr preferRelativeResize="0"/>
          <p:nvPr/>
        </p:nvPicPr>
        <p:blipFill rotWithShape="1">
          <a:blip r:embed="rId3">
            <a:alphaModFix/>
          </a:blip>
          <a:srcRect b="0" l="-777" r="-1410" t="2997"/>
          <a:stretch/>
        </p:blipFill>
        <p:spPr>
          <a:xfrm>
            <a:off x="412663" y="832725"/>
            <a:ext cx="8318675" cy="18172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grpSp>
        <p:nvGrpSpPr>
          <p:cNvPr id="811" name="Google Shape;811;p81"/>
          <p:cNvGrpSpPr/>
          <p:nvPr/>
        </p:nvGrpSpPr>
        <p:grpSpPr>
          <a:xfrm>
            <a:off x="7125089" y="202202"/>
            <a:ext cx="587871" cy="512373"/>
            <a:chOff x="6000100" y="3076250"/>
            <a:chExt cx="587871" cy="512373"/>
          </a:xfrm>
        </p:grpSpPr>
        <p:sp>
          <p:nvSpPr>
            <p:cNvPr id="812" name="Google Shape;812;p81"/>
            <p:cNvSpPr/>
            <p:nvPr/>
          </p:nvSpPr>
          <p:spPr>
            <a:xfrm>
              <a:off x="6000100" y="3076250"/>
              <a:ext cx="587871" cy="512373"/>
            </a:xfrm>
            <a:custGeom>
              <a:rect b="b" l="l" r="r" t="t"/>
              <a:pathLst>
                <a:path extrusionOk="0" h="88838" w="101884">
                  <a:moveTo>
                    <a:pt x="50272" y="0"/>
                  </a:moveTo>
                  <a:cubicBezTo>
                    <a:pt x="31897" y="0"/>
                    <a:pt x="14791" y="11087"/>
                    <a:pt x="8322" y="29000"/>
                  </a:cubicBezTo>
                  <a:cubicBezTo>
                    <a:pt x="1" y="51995"/>
                    <a:pt x="12332" y="77546"/>
                    <a:pt x="35878" y="86063"/>
                  </a:cubicBezTo>
                  <a:cubicBezTo>
                    <a:pt x="41078" y="87945"/>
                    <a:pt x="46391" y="88838"/>
                    <a:pt x="51602" y="88838"/>
                  </a:cubicBezTo>
                  <a:cubicBezTo>
                    <a:pt x="69970" y="88838"/>
                    <a:pt x="87079" y="77751"/>
                    <a:pt x="93562" y="59838"/>
                  </a:cubicBezTo>
                  <a:cubicBezTo>
                    <a:pt x="101883" y="36843"/>
                    <a:pt x="89534" y="11292"/>
                    <a:pt x="66006" y="2775"/>
                  </a:cubicBezTo>
                  <a:cubicBezTo>
                    <a:pt x="60802" y="893"/>
                    <a:pt x="55486" y="0"/>
                    <a:pt x="5027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13" name="Google Shape;813;p81"/>
            <p:cNvGrpSpPr/>
            <p:nvPr/>
          </p:nvGrpSpPr>
          <p:grpSpPr>
            <a:xfrm>
              <a:off x="6031360" y="3076713"/>
              <a:ext cx="539107" cy="480965"/>
              <a:chOff x="6031360" y="3076713"/>
              <a:chExt cx="539107" cy="480965"/>
            </a:xfrm>
          </p:grpSpPr>
          <p:sp>
            <p:nvSpPr>
              <p:cNvPr id="814" name="Google Shape;814;p81"/>
              <p:cNvSpPr/>
              <p:nvPr/>
            </p:nvSpPr>
            <p:spPr>
              <a:xfrm>
                <a:off x="6160232" y="3107767"/>
                <a:ext cx="410235" cy="449911"/>
              </a:xfrm>
              <a:custGeom>
                <a:rect b="b" l="l" r="r" t="t"/>
                <a:pathLst>
                  <a:path extrusionOk="0" h="78008" w="71098">
                    <a:moveTo>
                      <a:pt x="36108" y="3531"/>
                    </a:moveTo>
                    <a:lnTo>
                      <a:pt x="36835" y="4631"/>
                    </a:lnTo>
                    <a:cubicBezTo>
                      <a:pt x="36551" y="4826"/>
                      <a:pt x="36268" y="5039"/>
                      <a:pt x="35948" y="5217"/>
                    </a:cubicBezTo>
                    <a:cubicBezTo>
                      <a:pt x="35043" y="5749"/>
                      <a:pt x="34635" y="6459"/>
                      <a:pt x="35132" y="7488"/>
                    </a:cubicBezTo>
                    <a:cubicBezTo>
                      <a:pt x="35486" y="8208"/>
                      <a:pt x="35984" y="8561"/>
                      <a:pt x="36635" y="8561"/>
                    </a:cubicBezTo>
                    <a:cubicBezTo>
                      <a:pt x="36866" y="8561"/>
                      <a:pt x="37116" y="8517"/>
                      <a:pt x="37385" y="8428"/>
                    </a:cubicBezTo>
                    <a:cubicBezTo>
                      <a:pt x="37776" y="8304"/>
                      <a:pt x="38184" y="8198"/>
                      <a:pt x="38752" y="8056"/>
                    </a:cubicBezTo>
                    <a:lnTo>
                      <a:pt x="38752" y="8056"/>
                    </a:lnTo>
                    <a:cubicBezTo>
                      <a:pt x="38412" y="9075"/>
                      <a:pt x="37909" y="9331"/>
                      <a:pt x="37373" y="9331"/>
                    </a:cubicBezTo>
                    <a:cubicBezTo>
                      <a:pt x="36833" y="9331"/>
                      <a:pt x="36258" y="9072"/>
                      <a:pt x="35779" y="9072"/>
                    </a:cubicBezTo>
                    <a:cubicBezTo>
                      <a:pt x="35690" y="9072"/>
                      <a:pt x="35604" y="9081"/>
                      <a:pt x="35522" y="9102"/>
                    </a:cubicBezTo>
                    <a:lnTo>
                      <a:pt x="33162" y="11977"/>
                    </a:lnTo>
                    <a:lnTo>
                      <a:pt x="28585" y="11037"/>
                    </a:lnTo>
                    <a:lnTo>
                      <a:pt x="31832" y="10238"/>
                    </a:lnTo>
                    <a:cubicBezTo>
                      <a:pt x="32825" y="8162"/>
                      <a:pt x="33127" y="7062"/>
                      <a:pt x="32914" y="6228"/>
                    </a:cubicBezTo>
                    <a:lnTo>
                      <a:pt x="36108" y="3531"/>
                    </a:lnTo>
                    <a:close/>
                    <a:moveTo>
                      <a:pt x="38947" y="36232"/>
                    </a:moveTo>
                    <a:lnTo>
                      <a:pt x="38947" y="36232"/>
                    </a:lnTo>
                    <a:cubicBezTo>
                      <a:pt x="40402" y="36374"/>
                      <a:pt x="40561" y="37705"/>
                      <a:pt x="41253" y="38486"/>
                    </a:cubicBezTo>
                    <a:cubicBezTo>
                      <a:pt x="40278" y="40029"/>
                      <a:pt x="42194" y="41076"/>
                      <a:pt x="41963" y="42673"/>
                    </a:cubicBezTo>
                    <a:cubicBezTo>
                      <a:pt x="41786" y="43862"/>
                      <a:pt x="42833" y="45264"/>
                      <a:pt x="43241" y="46648"/>
                    </a:cubicBezTo>
                    <a:cubicBezTo>
                      <a:pt x="43560" y="47641"/>
                      <a:pt x="43507" y="48741"/>
                      <a:pt x="43046" y="49699"/>
                    </a:cubicBezTo>
                    <a:lnTo>
                      <a:pt x="40473" y="45760"/>
                    </a:lnTo>
                    <a:cubicBezTo>
                      <a:pt x="41449" y="42726"/>
                      <a:pt x="39160" y="39728"/>
                      <a:pt x="38947" y="36232"/>
                    </a:cubicBezTo>
                    <a:close/>
                    <a:moveTo>
                      <a:pt x="36430" y="1"/>
                    </a:moveTo>
                    <a:cubicBezTo>
                      <a:pt x="35873" y="1"/>
                      <a:pt x="35316" y="87"/>
                      <a:pt x="34759" y="284"/>
                    </a:cubicBezTo>
                    <a:cubicBezTo>
                      <a:pt x="33659" y="657"/>
                      <a:pt x="32346" y="870"/>
                      <a:pt x="31885" y="2005"/>
                    </a:cubicBezTo>
                    <a:cubicBezTo>
                      <a:pt x="31264" y="3567"/>
                      <a:pt x="29809" y="3549"/>
                      <a:pt x="28656" y="3992"/>
                    </a:cubicBezTo>
                    <a:cubicBezTo>
                      <a:pt x="26331" y="4826"/>
                      <a:pt x="26012" y="5465"/>
                      <a:pt x="27006" y="7683"/>
                    </a:cubicBezTo>
                    <a:lnTo>
                      <a:pt x="29791" y="7736"/>
                    </a:lnTo>
                    <a:lnTo>
                      <a:pt x="29046" y="10327"/>
                    </a:lnTo>
                    <a:lnTo>
                      <a:pt x="28425" y="7736"/>
                    </a:lnTo>
                    <a:lnTo>
                      <a:pt x="26633" y="11143"/>
                    </a:lnTo>
                    <a:cubicBezTo>
                      <a:pt x="25746" y="11374"/>
                      <a:pt x="24734" y="11391"/>
                      <a:pt x="24113" y="11870"/>
                    </a:cubicBezTo>
                    <a:cubicBezTo>
                      <a:pt x="22960" y="12775"/>
                      <a:pt x="21328" y="12509"/>
                      <a:pt x="20352" y="13680"/>
                    </a:cubicBezTo>
                    <a:lnTo>
                      <a:pt x="19695" y="12900"/>
                    </a:lnTo>
                    <a:lnTo>
                      <a:pt x="18808" y="14106"/>
                    </a:lnTo>
                    <a:cubicBezTo>
                      <a:pt x="18523" y="13971"/>
                      <a:pt x="18518" y="13452"/>
                      <a:pt x="18160" y="13452"/>
                    </a:cubicBezTo>
                    <a:cubicBezTo>
                      <a:pt x="18049" y="13452"/>
                      <a:pt x="17905" y="13501"/>
                      <a:pt x="17708" y="13627"/>
                    </a:cubicBezTo>
                    <a:lnTo>
                      <a:pt x="18560" y="17193"/>
                    </a:lnTo>
                    <a:cubicBezTo>
                      <a:pt x="17972" y="17718"/>
                      <a:pt x="17385" y="18062"/>
                      <a:pt x="16823" y="18062"/>
                    </a:cubicBezTo>
                    <a:cubicBezTo>
                      <a:pt x="16435" y="18062"/>
                      <a:pt x="16059" y="17897"/>
                      <a:pt x="15703" y="17513"/>
                    </a:cubicBezTo>
                    <a:cubicBezTo>
                      <a:pt x="14869" y="16626"/>
                      <a:pt x="13929" y="16750"/>
                      <a:pt x="13112" y="16643"/>
                    </a:cubicBezTo>
                    <a:lnTo>
                      <a:pt x="11196" y="21381"/>
                    </a:lnTo>
                    <a:cubicBezTo>
                      <a:pt x="11922" y="22616"/>
                      <a:pt x="12753" y="22986"/>
                      <a:pt x="13632" y="22986"/>
                    </a:cubicBezTo>
                    <a:cubicBezTo>
                      <a:pt x="14835" y="22986"/>
                      <a:pt x="16130" y="22292"/>
                      <a:pt x="17371" y="22179"/>
                    </a:cubicBezTo>
                    <a:lnTo>
                      <a:pt x="17868" y="20618"/>
                    </a:lnTo>
                    <a:cubicBezTo>
                      <a:pt x="19961" y="20600"/>
                      <a:pt x="19961" y="20600"/>
                      <a:pt x="21594" y="18879"/>
                    </a:cubicBezTo>
                    <a:lnTo>
                      <a:pt x="22587" y="19784"/>
                    </a:lnTo>
                    <a:lnTo>
                      <a:pt x="24646" y="19181"/>
                    </a:lnTo>
                    <a:lnTo>
                      <a:pt x="28762" y="24788"/>
                    </a:lnTo>
                    <a:lnTo>
                      <a:pt x="24930" y="23971"/>
                    </a:lnTo>
                    <a:lnTo>
                      <a:pt x="24930" y="23971"/>
                    </a:lnTo>
                    <a:lnTo>
                      <a:pt x="26544" y="25746"/>
                    </a:lnTo>
                    <a:cubicBezTo>
                      <a:pt x="28177" y="25604"/>
                      <a:pt x="29507" y="24930"/>
                      <a:pt x="30182" y="23209"/>
                    </a:cubicBezTo>
                    <a:cubicBezTo>
                      <a:pt x="29738" y="22747"/>
                      <a:pt x="29365" y="22321"/>
                      <a:pt x="28957" y="21949"/>
                    </a:cubicBezTo>
                    <a:cubicBezTo>
                      <a:pt x="28017" y="21150"/>
                      <a:pt x="27165" y="20352"/>
                      <a:pt x="27502" y="18400"/>
                    </a:cubicBezTo>
                    <a:lnTo>
                      <a:pt x="27502" y="18400"/>
                    </a:lnTo>
                    <a:cubicBezTo>
                      <a:pt x="28336" y="19678"/>
                      <a:pt x="28709" y="20902"/>
                      <a:pt x="29472" y="21239"/>
                    </a:cubicBezTo>
                    <a:cubicBezTo>
                      <a:pt x="30678" y="21771"/>
                      <a:pt x="30785" y="22641"/>
                      <a:pt x="30927" y="23617"/>
                    </a:cubicBezTo>
                    <a:cubicBezTo>
                      <a:pt x="31016" y="24255"/>
                      <a:pt x="30874" y="24965"/>
                      <a:pt x="31087" y="25551"/>
                    </a:cubicBezTo>
                    <a:cubicBezTo>
                      <a:pt x="31282" y="26083"/>
                      <a:pt x="31832" y="26473"/>
                      <a:pt x="32187" y="26952"/>
                    </a:cubicBezTo>
                    <a:cubicBezTo>
                      <a:pt x="32275" y="27077"/>
                      <a:pt x="32329" y="27236"/>
                      <a:pt x="32329" y="27396"/>
                    </a:cubicBezTo>
                    <a:lnTo>
                      <a:pt x="34369" y="26225"/>
                    </a:lnTo>
                    <a:cubicBezTo>
                      <a:pt x="33860" y="25322"/>
                      <a:pt x="33670" y="24632"/>
                      <a:pt x="34867" y="24632"/>
                    </a:cubicBezTo>
                    <a:cubicBezTo>
                      <a:pt x="34964" y="24632"/>
                      <a:pt x="35070" y="24636"/>
                      <a:pt x="35185" y="24646"/>
                    </a:cubicBezTo>
                    <a:cubicBezTo>
                      <a:pt x="35416" y="25462"/>
                      <a:pt x="35718" y="26189"/>
                      <a:pt x="35753" y="26917"/>
                    </a:cubicBezTo>
                    <a:cubicBezTo>
                      <a:pt x="35859" y="28390"/>
                      <a:pt x="37013" y="29011"/>
                      <a:pt x="38024" y="29224"/>
                    </a:cubicBezTo>
                    <a:cubicBezTo>
                      <a:pt x="38126" y="29247"/>
                      <a:pt x="38227" y="29254"/>
                      <a:pt x="38330" y="29254"/>
                    </a:cubicBezTo>
                    <a:cubicBezTo>
                      <a:pt x="38476" y="29254"/>
                      <a:pt x="38623" y="29240"/>
                      <a:pt x="38773" y="29240"/>
                    </a:cubicBezTo>
                    <a:cubicBezTo>
                      <a:pt x="39073" y="29240"/>
                      <a:pt x="39384" y="29296"/>
                      <a:pt x="39710" y="29632"/>
                    </a:cubicBezTo>
                    <a:cubicBezTo>
                      <a:pt x="39812" y="29734"/>
                      <a:pt x="39986" y="29769"/>
                      <a:pt x="40202" y="29769"/>
                    </a:cubicBezTo>
                    <a:cubicBezTo>
                      <a:pt x="40620" y="29769"/>
                      <a:pt x="41193" y="29637"/>
                      <a:pt x="41697" y="29614"/>
                    </a:cubicBezTo>
                    <a:lnTo>
                      <a:pt x="41697" y="29614"/>
                    </a:lnTo>
                    <a:cubicBezTo>
                      <a:pt x="41182" y="31175"/>
                      <a:pt x="41608" y="32825"/>
                      <a:pt x="39657" y="33517"/>
                    </a:cubicBezTo>
                    <a:cubicBezTo>
                      <a:pt x="37368" y="32683"/>
                      <a:pt x="34369" y="33198"/>
                      <a:pt x="32488" y="30608"/>
                    </a:cubicBezTo>
                    <a:cubicBezTo>
                      <a:pt x="32240" y="30253"/>
                      <a:pt x="31388" y="30306"/>
                      <a:pt x="30820" y="30217"/>
                    </a:cubicBezTo>
                    <a:cubicBezTo>
                      <a:pt x="30607" y="30217"/>
                      <a:pt x="30395" y="30270"/>
                      <a:pt x="30182" y="30324"/>
                    </a:cubicBezTo>
                    <a:lnTo>
                      <a:pt x="29507" y="32151"/>
                    </a:lnTo>
                    <a:cubicBezTo>
                      <a:pt x="27875" y="31246"/>
                      <a:pt x="26686" y="29969"/>
                      <a:pt x="25373" y="29259"/>
                    </a:cubicBezTo>
                    <a:cubicBezTo>
                      <a:pt x="23918" y="28496"/>
                      <a:pt x="23794" y="27431"/>
                      <a:pt x="23794" y="26456"/>
                    </a:cubicBezTo>
                    <a:cubicBezTo>
                      <a:pt x="23808" y="24745"/>
                      <a:pt x="23906" y="24354"/>
                      <a:pt x="23055" y="24354"/>
                    </a:cubicBezTo>
                    <a:cubicBezTo>
                      <a:pt x="22802" y="24354"/>
                      <a:pt x="22466" y="24388"/>
                      <a:pt x="22020" y="24433"/>
                    </a:cubicBezTo>
                    <a:cubicBezTo>
                      <a:pt x="21712" y="24458"/>
                      <a:pt x="21377" y="24558"/>
                      <a:pt x="21074" y="24558"/>
                    </a:cubicBezTo>
                    <a:cubicBezTo>
                      <a:pt x="20958" y="24558"/>
                      <a:pt x="20846" y="24543"/>
                      <a:pt x="20742" y="24504"/>
                    </a:cubicBezTo>
                    <a:cubicBezTo>
                      <a:pt x="20157" y="24291"/>
                      <a:pt x="19678" y="23670"/>
                      <a:pt x="19092" y="23546"/>
                    </a:cubicBezTo>
                    <a:cubicBezTo>
                      <a:pt x="19019" y="23530"/>
                      <a:pt x="18944" y="23524"/>
                      <a:pt x="18868" y="23524"/>
                    </a:cubicBezTo>
                    <a:cubicBezTo>
                      <a:pt x="18388" y="23524"/>
                      <a:pt x="17849" y="23788"/>
                      <a:pt x="17363" y="23788"/>
                    </a:cubicBezTo>
                    <a:cubicBezTo>
                      <a:pt x="17305" y="23788"/>
                      <a:pt x="17249" y="23784"/>
                      <a:pt x="17193" y="23776"/>
                    </a:cubicBezTo>
                    <a:cubicBezTo>
                      <a:pt x="17025" y="23751"/>
                      <a:pt x="16855" y="23741"/>
                      <a:pt x="16686" y="23741"/>
                    </a:cubicBezTo>
                    <a:cubicBezTo>
                      <a:pt x="15885" y="23741"/>
                      <a:pt x="15077" y="23971"/>
                      <a:pt x="14280" y="23971"/>
                    </a:cubicBezTo>
                    <a:cubicBezTo>
                      <a:pt x="13809" y="23971"/>
                      <a:pt x="13342" y="23890"/>
                      <a:pt x="12882" y="23634"/>
                    </a:cubicBezTo>
                    <a:cubicBezTo>
                      <a:pt x="12688" y="23891"/>
                      <a:pt x="12389" y="23939"/>
                      <a:pt x="12067" y="23939"/>
                    </a:cubicBezTo>
                    <a:cubicBezTo>
                      <a:pt x="11878" y="23939"/>
                      <a:pt x="11682" y="23923"/>
                      <a:pt x="11494" y="23923"/>
                    </a:cubicBezTo>
                    <a:cubicBezTo>
                      <a:pt x="11005" y="23923"/>
                      <a:pt x="10573" y="24032"/>
                      <a:pt x="10486" y="24823"/>
                    </a:cubicBezTo>
                    <a:cubicBezTo>
                      <a:pt x="8943" y="25125"/>
                      <a:pt x="8925" y="26935"/>
                      <a:pt x="7594" y="27644"/>
                    </a:cubicBezTo>
                    <a:cubicBezTo>
                      <a:pt x="6636" y="28159"/>
                      <a:pt x="5270" y="28461"/>
                      <a:pt x="4720" y="29365"/>
                    </a:cubicBezTo>
                    <a:cubicBezTo>
                      <a:pt x="3992" y="30554"/>
                      <a:pt x="2733" y="30874"/>
                      <a:pt x="1899" y="31779"/>
                    </a:cubicBezTo>
                    <a:cubicBezTo>
                      <a:pt x="1420" y="32311"/>
                      <a:pt x="1100" y="33021"/>
                      <a:pt x="692" y="33695"/>
                    </a:cubicBezTo>
                    <a:lnTo>
                      <a:pt x="2058" y="34529"/>
                    </a:lnTo>
                    <a:lnTo>
                      <a:pt x="0" y="40331"/>
                    </a:lnTo>
                    <a:cubicBezTo>
                      <a:pt x="568" y="41839"/>
                      <a:pt x="1828" y="42460"/>
                      <a:pt x="1579" y="43844"/>
                    </a:cubicBezTo>
                    <a:cubicBezTo>
                      <a:pt x="1526" y="44093"/>
                      <a:pt x="4542" y="47659"/>
                      <a:pt x="4720" y="47677"/>
                    </a:cubicBezTo>
                    <a:cubicBezTo>
                      <a:pt x="6407" y="47823"/>
                      <a:pt x="7973" y="48589"/>
                      <a:pt x="9698" y="48589"/>
                    </a:cubicBezTo>
                    <a:cubicBezTo>
                      <a:pt x="10059" y="48589"/>
                      <a:pt x="10428" y="48555"/>
                      <a:pt x="10806" y="48475"/>
                    </a:cubicBezTo>
                    <a:cubicBezTo>
                      <a:pt x="10987" y="48438"/>
                      <a:pt x="11194" y="48420"/>
                      <a:pt x="11413" y="48420"/>
                    </a:cubicBezTo>
                    <a:cubicBezTo>
                      <a:pt x="12352" y="48420"/>
                      <a:pt x="13516" y="48748"/>
                      <a:pt x="13875" y="49309"/>
                    </a:cubicBezTo>
                    <a:cubicBezTo>
                      <a:pt x="14692" y="50587"/>
                      <a:pt x="15916" y="50622"/>
                      <a:pt x="17140" y="51048"/>
                    </a:cubicBezTo>
                    <a:lnTo>
                      <a:pt x="16076" y="56140"/>
                    </a:lnTo>
                    <a:cubicBezTo>
                      <a:pt x="17477" y="57542"/>
                      <a:pt x="16874" y="59405"/>
                      <a:pt x="17513" y="60896"/>
                    </a:cubicBezTo>
                    <a:cubicBezTo>
                      <a:pt x="17939" y="61907"/>
                      <a:pt x="17566" y="62439"/>
                      <a:pt x="17105" y="63291"/>
                    </a:cubicBezTo>
                    <a:cubicBezTo>
                      <a:pt x="16484" y="64409"/>
                      <a:pt x="14922" y="65544"/>
                      <a:pt x="15526" y="66751"/>
                    </a:cubicBezTo>
                    <a:cubicBezTo>
                      <a:pt x="16359" y="68454"/>
                      <a:pt x="16218" y="70264"/>
                      <a:pt x="16218" y="71879"/>
                    </a:cubicBezTo>
                    <a:cubicBezTo>
                      <a:pt x="16218" y="73795"/>
                      <a:pt x="17726" y="75427"/>
                      <a:pt x="16697" y="77361"/>
                    </a:cubicBezTo>
                    <a:cubicBezTo>
                      <a:pt x="17566" y="77539"/>
                      <a:pt x="18134" y="77610"/>
                      <a:pt x="18684" y="77787"/>
                    </a:cubicBezTo>
                    <a:cubicBezTo>
                      <a:pt x="19160" y="77941"/>
                      <a:pt x="19615" y="78007"/>
                      <a:pt x="20054" y="78007"/>
                    </a:cubicBezTo>
                    <a:cubicBezTo>
                      <a:pt x="21942" y="78007"/>
                      <a:pt x="23543" y="76798"/>
                      <a:pt x="25284" y="76208"/>
                    </a:cubicBezTo>
                    <a:cubicBezTo>
                      <a:pt x="25497" y="74416"/>
                      <a:pt x="27183" y="74310"/>
                      <a:pt x="28336" y="73671"/>
                    </a:cubicBezTo>
                    <a:cubicBezTo>
                      <a:pt x="29472" y="73032"/>
                      <a:pt x="29064" y="71826"/>
                      <a:pt x="29436" y="71240"/>
                    </a:cubicBezTo>
                    <a:cubicBezTo>
                      <a:pt x="30359" y="70814"/>
                      <a:pt x="31051" y="70495"/>
                      <a:pt x="31761" y="70175"/>
                    </a:cubicBezTo>
                    <a:cubicBezTo>
                      <a:pt x="32701" y="69750"/>
                      <a:pt x="34032" y="69998"/>
                      <a:pt x="34351" y="68472"/>
                    </a:cubicBezTo>
                    <a:cubicBezTo>
                      <a:pt x="34564" y="67407"/>
                      <a:pt x="35593" y="66680"/>
                      <a:pt x="35682" y="65456"/>
                    </a:cubicBezTo>
                    <a:cubicBezTo>
                      <a:pt x="35789" y="64196"/>
                      <a:pt x="36179" y="62972"/>
                      <a:pt x="36427" y="61783"/>
                    </a:cubicBezTo>
                    <a:cubicBezTo>
                      <a:pt x="38255" y="60576"/>
                      <a:pt x="39869" y="58979"/>
                      <a:pt x="41786" y="58376"/>
                    </a:cubicBezTo>
                    <a:cubicBezTo>
                      <a:pt x="44997" y="57365"/>
                      <a:pt x="46843" y="55306"/>
                      <a:pt x="48156" y="52432"/>
                    </a:cubicBezTo>
                    <a:cubicBezTo>
                      <a:pt x="47847" y="52304"/>
                      <a:pt x="47534" y="52259"/>
                      <a:pt x="47221" y="52259"/>
                    </a:cubicBezTo>
                    <a:cubicBezTo>
                      <a:pt x="46487" y="52259"/>
                      <a:pt x="45750" y="52505"/>
                      <a:pt x="45050" y="52505"/>
                    </a:cubicBezTo>
                    <a:cubicBezTo>
                      <a:pt x="44519" y="52505"/>
                      <a:pt x="44011" y="52363"/>
                      <a:pt x="43542" y="51864"/>
                    </a:cubicBezTo>
                    <a:cubicBezTo>
                      <a:pt x="44838" y="50108"/>
                      <a:pt x="44909" y="50037"/>
                      <a:pt x="46293" y="49859"/>
                    </a:cubicBezTo>
                    <a:cubicBezTo>
                      <a:pt x="49646" y="49451"/>
                      <a:pt x="52822" y="48599"/>
                      <a:pt x="55395" y="46222"/>
                    </a:cubicBezTo>
                    <a:cubicBezTo>
                      <a:pt x="55484" y="45760"/>
                      <a:pt x="55697" y="45281"/>
                      <a:pt x="55643" y="44838"/>
                    </a:cubicBezTo>
                    <a:cubicBezTo>
                      <a:pt x="55519" y="44022"/>
                      <a:pt x="55359" y="43205"/>
                      <a:pt x="55164" y="42389"/>
                    </a:cubicBezTo>
                    <a:lnTo>
                      <a:pt x="54224" y="42886"/>
                    </a:lnTo>
                    <a:lnTo>
                      <a:pt x="53887" y="41254"/>
                    </a:lnTo>
                    <a:lnTo>
                      <a:pt x="53017" y="42655"/>
                    </a:lnTo>
                    <a:cubicBezTo>
                      <a:pt x="51775" y="40810"/>
                      <a:pt x="49327" y="39763"/>
                      <a:pt x="49735" y="36906"/>
                    </a:cubicBezTo>
                    <a:lnTo>
                      <a:pt x="49735" y="36906"/>
                    </a:lnTo>
                    <a:cubicBezTo>
                      <a:pt x="51738" y="37643"/>
                      <a:pt x="51709" y="40841"/>
                      <a:pt x="54224" y="40841"/>
                    </a:cubicBezTo>
                    <a:cubicBezTo>
                      <a:pt x="54315" y="40841"/>
                      <a:pt x="54410" y="40836"/>
                      <a:pt x="54508" y="40828"/>
                    </a:cubicBezTo>
                    <a:cubicBezTo>
                      <a:pt x="55927" y="42620"/>
                      <a:pt x="57968" y="43134"/>
                      <a:pt x="59831" y="43365"/>
                    </a:cubicBezTo>
                    <a:lnTo>
                      <a:pt x="61091" y="47286"/>
                    </a:lnTo>
                    <a:lnTo>
                      <a:pt x="62244" y="46683"/>
                    </a:lnTo>
                    <a:lnTo>
                      <a:pt x="61215" y="57010"/>
                    </a:lnTo>
                    <a:cubicBezTo>
                      <a:pt x="61641" y="57382"/>
                      <a:pt x="62102" y="57613"/>
                      <a:pt x="62208" y="57950"/>
                    </a:cubicBezTo>
                    <a:cubicBezTo>
                      <a:pt x="62350" y="58411"/>
                      <a:pt x="62226" y="58944"/>
                      <a:pt x="62226" y="59547"/>
                    </a:cubicBezTo>
                    <a:cubicBezTo>
                      <a:pt x="64054" y="58323"/>
                      <a:pt x="61783" y="56531"/>
                      <a:pt x="63397" y="55164"/>
                    </a:cubicBezTo>
                    <a:cubicBezTo>
                      <a:pt x="64338" y="54348"/>
                      <a:pt x="63894" y="52503"/>
                      <a:pt x="65420" y="51421"/>
                    </a:cubicBezTo>
                    <a:cubicBezTo>
                      <a:pt x="66236" y="50835"/>
                      <a:pt x="66627" y="49575"/>
                      <a:pt x="67407" y="48670"/>
                    </a:cubicBezTo>
                    <a:cubicBezTo>
                      <a:pt x="71098" y="31370"/>
                      <a:pt x="63805" y="13556"/>
                      <a:pt x="49451" y="3265"/>
                    </a:cubicBezTo>
                    <a:lnTo>
                      <a:pt x="47836" y="4223"/>
                    </a:lnTo>
                    <a:lnTo>
                      <a:pt x="47286" y="3425"/>
                    </a:lnTo>
                    <a:lnTo>
                      <a:pt x="45068" y="5465"/>
                    </a:lnTo>
                    <a:lnTo>
                      <a:pt x="44802" y="2963"/>
                    </a:lnTo>
                    <a:cubicBezTo>
                      <a:pt x="44483" y="4383"/>
                      <a:pt x="44412" y="5554"/>
                      <a:pt x="43383" y="6193"/>
                    </a:cubicBezTo>
                    <a:lnTo>
                      <a:pt x="41094" y="4844"/>
                    </a:lnTo>
                    <a:lnTo>
                      <a:pt x="41253" y="4702"/>
                    </a:lnTo>
                    <a:lnTo>
                      <a:pt x="43436" y="4525"/>
                    </a:lnTo>
                    <a:cubicBezTo>
                      <a:pt x="43312" y="3975"/>
                      <a:pt x="43329" y="3673"/>
                      <a:pt x="43205" y="3567"/>
                    </a:cubicBezTo>
                    <a:cubicBezTo>
                      <a:pt x="41857" y="2502"/>
                      <a:pt x="40153" y="1934"/>
                      <a:pt x="38929" y="657"/>
                    </a:cubicBezTo>
                    <a:cubicBezTo>
                      <a:pt x="38787" y="497"/>
                      <a:pt x="38592" y="390"/>
                      <a:pt x="38379" y="319"/>
                    </a:cubicBezTo>
                    <a:cubicBezTo>
                      <a:pt x="37729" y="119"/>
                      <a:pt x="37080" y="1"/>
                      <a:pt x="3643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81"/>
              <p:cNvSpPr/>
              <p:nvPr/>
            </p:nvSpPr>
            <p:spPr>
              <a:xfrm>
                <a:off x="6031360" y="3319580"/>
                <a:ext cx="62149" cy="151155"/>
              </a:xfrm>
              <a:custGeom>
                <a:rect b="b" l="l" r="r" t="t"/>
                <a:pathLst>
                  <a:path extrusionOk="0" h="26208" w="10771">
                    <a:moveTo>
                      <a:pt x="266" y="1"/>
                    </a:moveTo>
                    <a:lnTo>
                      <a:pt x="266" y="1"/>
                    </a:lnTo>
                    <a:cubicBezTo>
                      <a:pt x="0" y="9316"/>
                      <a:pt x="2679" y="18489"/>
                      <a:pt x="7914" y="26208"/>
                    </a:cubicBezTo>
                    <a:lnTo>
                      <a:pt x="9014" y="25995"/>
                    </a:lnTo>
                    <a:cubicBezTo>
                      <a:pt x="9954" y="24078"/>
                      <a:pt x="9617" y="22073"/>
                      <a:pt x="9475" y="20068"/>
                    </a:cubicBezTo>
                    <a:cubicBezTo>
                      <a:pt x="9422" y="19412"/>
                      <a:pt x="9120" y="18347"/>
                      <a:pt x="9386" y="18188"/>
                    </a:cubicBezTo>
                    <a:cubicBezTo>
                      <a:pt x="10753" y="17336"/>
                      <a:pt x="10274" y="15881"/>
                      <a:pt x="10770" y="14834"/>
                    </a:cubicBezTo>
                    <a:cubicBezTo>
                      <a:pt x="9777" y="13415"/>
                      <a:pt x="8890" y="12137"/>
                      <a:pt x="7328" y="11161"/>
                    </a:cubicBezTo>
                    <a:cubicBezTo>
                      <a:pt x="5270" y="9901"/>
                      <a:pt x="3194" y="8216"/>
                      <a:pt x="3247" y="5235"/>
                    </a:cubicBezTo>
                    <a:cubicBezTo>
                      <a:pt x="3265" y="4649"/>
                      <a:pt x="2999" y="3709"/>
                      <a:pt x="2591" y="3514"/>
                    </a:cubicBezTo>
                    <a:cubicBezTo>
                      <a:pt x="1295" y="2893"/>
                      <a:pt x="479" y="1562"/>
                      <a:pt x="408" y="604"/>
                    </a:cubicBezTo>
                    <a:cubicBezTo>
                      <a:pt x="373" y="391"/>
                      <a:pt x="337" y="196"/>
                      <a:pt x="266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81"/>
              <p:cNvSpPr/>
              <p:nvPr/>
            </p:nvSpPr>
            <p:spPr>
              <a:xfrm>
                <a:off x="6189159" y="3076713"/>
                <a:ext cx="117131" cy="35868"/>
              </a:xfrm>
              <a:custGeom>
                <a:rect b="b" l="l" r="r" t="t"/>
                <a:pathLst>
                  <a:path extrusionOk="0" h="6219" w="20300">
                    <a:moveTo>
                      <a:pt x="17629" y="0"/>
                    </a:moveTo>
                    <a:cubicBezTo>
                      <a:pt x="12187" y="0"/>
                      <a:pt x="6775" y="976"/>
                      <a:pt x="1651" y="2882"/>
                    </a:cubicBezTo>
                    <a:cubicBezTo>
                      <a:pt x="1207" y="3344"/>
                      <a:pt x="764" y="3823"/>
                      <a:pt x="302" y="4266"/>
                    </a:cubicBezTo>
                    <a:cubicBezTo>
                      <a:pt x="1" y="4568"/>
                      <a:pt x="231" y="5402"/>
                      <a:pt x="214" y="6218"/>
                    </a:cubicBezTo>
                    <a:cubicBezTo>
                      <a:pt x="1402" y="5473"/>
                      <a:pt x="2201" y="4834"/>
                      <a:pt x="3141" y="4408"/>
                    </a:cubicBezTo>
                    <a:cubicBezTo>
                      <a:pt x="5525" y="3347"/>
                      <a:pt x="8003" y="2632"/>
                      <a:pt x="10607" y="2632"/>
                    </a:cubicBezTo>
                    <a:cubicBezTo>
                      <a:pt x="11182" y="2632"/>
                      <a:pt x="11763" y="2666"/>
                      <a:pt x="12350" y="2740"/>
                    </a:cubicBezTo>
                    <a:cubicBezTo>
                      <a:pt x="12586" y="2362"/>
                      <a:pt x="12876" y="2257"/>
                      <a:pt x="13186" y="2257"/>
                    </a:cubicBezTo>
                    <a:cubicBezTo>
                      <a:pt x="13571" y="2257"/>
                      <a:pt x="13986" y="2419"/>
                      <a:pt x="14364" y="2419"/>
                    </a:cubicBezTo>
                    <a:cubicBezTo>
                      <a:pt x="14550" y="2419"/>
                      <a:pt x="14727" y="2379"/>
                      <a:pt x="14887" y="2261"/>
                    </a:cubicBezTo>
                    <a:cubicBezTo>
                      <a:pt x="16502" y="1072"/>
                      <a:pt x="18472" y="718"/>
                      <a:pt x="20299" y="79"/>
                    </a:cubicBezTo>
                    <a:cubicBezTo>
                      <a:pt x="19409" y="26"/>
                      <a:pt x="18519" y="0"/>
                      <a:pt x="17629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81"/>
              <p:cNvSpPr/>
              <p:nvPr/>
            </p:nvSpPr>
            <p:spPr>
              <a:xfrm>
                <a:off x="6350006" y="3503923"/>
                <a:ext cx="45156" cy="42581"/>
              </a:xfrm>
              <a:custGeom>
                <a:rect b="b" l="l" r="r" t="t"/>
                <a:pathLst>
                  <a:path extrusionOk="0" h="7383" w="7826">
                    <a:moveTo>
                      <a:pt x="7648" y="1"/>
                    </a:moveTo>
                    <a:lnTo>
                      <a:pt x="7648" y="1"/>
                    </a:lnTo>
                    <a:cubicBezTo>
                      <a:pt x="6488" y="417"/>
                      <a:pt x="5728" y="1543"/>
                      <a:pt x="4541" y="1543"/>
                    </a:cubicBezTo>
                    <a:cubicBezTo>
                      <a:pt x="4311" y="1543"/>
                      <a:pt x="4065" y="1501"/>
                      <a:pt x="3797" y="1403"/>
                    </a:cubicBezTo>
                    <a:cubicBezTo>
                      <a:pt x="3766" y="1397"/>
                      <a:pt x="3735" y="1395"/>
                      <a:pt x="3704" y="1395"/>
                    </a:cubicBezTo>
                    <a:cubicBezTo>
                      <a:pt x="3523" y="1395"/>
                      <a:pt x="3348" y="1482"/>
                      <a:pt x="3212" y="1633"/>
                    </a:cubicBezTo>
                    <a:cubicBezTo>
                      <a:pt x="2520" y="3567"/>
                      <a:pt x="142" y="4490"/>
                      <a:pt x="0" y="7045"/>
                    </a:cubicBezTo>
                    <a:lnTo>
                      <a:pt x="1633" y="7382"/>
                    </a:lnTo>
                    <a:cubicBezTo>
                      <a:pt x="2662" y="6353"/>
                      <a:pt x="3655" y="5306"/>
                      <a:pt x="4844" y="4419"/>
                    </a:cubicBezTo>
                    <a:cubicBezTo>
                      <a:pt x="6211" y="3390"/>
                      <a:pt x="7825" y="2219"/>
                      <a:pt x="764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81"/>
              <p:cNvSpPr/>
              <p:nvPr/>
            </p:nvSpPr>
            <p:spPr>
              <a:xfrm>
                <a:off x="6262180" y="3141947"/>
                <a:ext cx="28469" cy="38688"/>
              </a:xfrm>
              <a:custGeom>
                <a:rect b="b" l="l" r="r" t="t"/>
                <a:pathLst>
                  <a:path extrusionOk="0" h="6708" w="4934">
                    <a:moveTo>
                      <a:pt x="2094" y="0"/>
                    </a:moveTo>
                    <a:lnTo>
                      <a:pt x="2094" y="0"/>
                    </a:lnTo>
                    <a:cubicBezTo>
                      <a:pt x="0" y="1420"/>
                      <a:pt x="3052" y="2467"/>
                      <a:pt x="1988" y="4454"/>
                    </a:cubicBezTo>
                    <a:lnTo>
                      <a:pt x="817" y="4756"/>
                    </a:lnTo>
                    <a:cubicBezTo>
                      <a:pt x="1243" y="6707"/>
                      <a:pt x="2822" y="6228"/>
                      <a:pt x="3851" y="6619"/>
                    </a:cubicBezTo>
                    <a:lnTo>
                      <a:pt x="4933" y="5430"/>
                    </a:lnTo>
                    <a:cubicBezTo>
                      <a:pt x="4685" y="3993"/>
                      <a:pt x="2768" y="2875"/>
                      <a:pt x="4206" y="1207"/>
                    </a:cubicBezTo>
                    <a:cubicBezTo>
                      <a:pt x="3883" y="979"/>
                      <a:pt x="3846" y="221"/>
                      <a:pt x="3400" y="221"/>
                    </a:cubicBezTo>
                    <a:cubicBezTo>
                      <a:pt x="3257" y="221"/>
                      <a:pt x="3072" y="299"/>
                      <a:pt x="2822" y="497"/>
                    </a:cubicBezTo>
                    <a:cubicBezTo>
                      <a:pt x="2815" y="502"/>
                      <a:pt x="2807" y="505"/>
                      <a:pt x="2796" y="505"/>
                    </a:cubicBezTo>
                    <a:cubicBezTo>
                      <a:pt x="2667" y="505"/>
                      <a:pt x="2259" y="115"/>
                      <a:pt x="2094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81"/>
              <p:cNvSpPr/>
              <p:nvPr/>
            </p:nvSpPr>
            <p:spPr>
              <a:xfrm>
                <a:off x="6251907" y="3101042"/>
                <a:ext cx="26011" cy="13686"/>
              </a:xfrm>
              <a:custGeom>
                <a:rect b="b" l="l" r="r" t="t"/>
                <a:pathLst>
                  <a:path extrusionOk="0" h="2373" w="4508">
                    <a:moveTo>
                      <a:pt x="1606" y="0"/>
                    </a:moveTo>
                    <a:cubicBezTo>
                      <a:pt x="1091" y="0"/>
                      <a:pt x="558" y="171"/>
                      <a:pt x="0" y="723"/>
                    </a:cubicBezTo>
                    <a:cubicBezTo>
                      <a:pt x="430" y="1555"/>
                      <a:pt x="972" y="2195"/>
                      <a:pt x="1679" y="2195"/>
                    </a:cubicBezTo>
                    <a:cubicBezTo>
                      <a:pt x="1906" y="2195"/>
                      <a:pt x="2151" y="2129"/>
                      <a:pt x="2414" y="1982"/>
                    </a:cubicBezTo>
                    <a:cubicBezTo>
                      <a:pt x="2981" y="1663"/>
                      <a:pt x="4507" y="2373"/>
                      <a:pt x="4064" y="456"/>
                    </a:cubicBezTo>
                    <a:lnTo>
                      <a:pt x="4064" y="456"/>
                    </a:lnTo>
                    <a:cubicBezTo>
                      <a:pt x="4046" y="457"/>
                      <a:pt x="4028" y="457"/>
                      <a:pt x="4010" y="457"/>
                    </a:cubicBezTo>
                    <a:cubicBezTo>
                      <a:pt x="3239" y="457"/>
                      <a:pt x="2447" y="0"/>
                      <a:pt x="1606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81"/>
              <p:cNvSpPr/>
              <p:nvPr/>
            </p:nvSpPr>
            <p:spPr>
              <a:xfrm>
                <a:off x="6250613" y="3155645"/>
                <a:ext cx="21609" cy="17008"/>
              </a:xfrm>
              <a:custGeom>
                <a:rect b="b" l="l" r="r" t="t"/>
                <a:pathLst>
                  <a:path extrusionOk="0" h="2949" w="3745">
                    <a:moveTo>
                      <a:pt x="1345" y="1"/>
                    </a:moveTo>
                    <a:cubicBezTo>
                      <a:pt x="985" y="1"/>
                      <a:pt x="770" y="142"/>
                      <a:pt x="568" y="429"/>
                    </a:cubicBezTo>
                    <a:cubicBezTo>
                      <a:pt x="213" y="943"/>
                      <a:pt x="249" y="1706"/>
                      <a:pt x="0" y="2948"/>
                    </a:cubicBezTo>
                    <a:lnTo>
                      <a:pt x="3744" y="695"/>
                    </a:lnTo>
                    <a:cubicBezTo>
                      <a:pt x="2515" y="235"/>
                      <a:pt x="1810" y="1"/>
                      <a:pt x="1345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1" name="Google Shape;821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82"/>
          <p:cNvSpPr txBox="1"/>
          <p:nvPr>
            <p:ph type="ctrTitle"/>
          </p:nvPr>
        </p:nvSpPr>
        <p:spPr>
          <a:xfrm>
            <a:off x="1581100" y="-52450"/>
            <a:ext cx="65802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Unit-Economics und Wachstumspotenziale</a:t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27" name="Google Shape;827;p82"/>
          <p:cNvPicPr preferRelativeResize="0"/>
          <p:nvPr/>
        </p:nvPicPr>
        <p:blipFill rotWithShape="1">
          <a:blip r:embed="rId3">
            <a:alphaModFix/>
          </a:blip>
          <a:srcRect b="9783" l="0" r="695" t="7940"/>
          <a:stretch/>
        </p:blipFill>
        <p:spPr>
          <a:xfrm>
            <a:off x="204950" y="1063775"/>
            <a:ext cx="8734101" cy="11272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828" name="Google Shape;828;p82"/>
          <p:cNvSpPr txBox="1"/>
          <p:nvPr/>
        </p:nvSpPr>
        <p:spPr>
          <a:xfrm>
            <a:off x="1108400" y="2657350"/>
            <a:ext cx="77856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Unit-Economics nach Produkten: Profitabilität und Effizienz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Margen-Leader (UX/UI Design): Verfügt über die höchste Conversion (12,87 %) und die niedrigsten Akquisekosten (62,62 €). Dies ist das effizienteste Produkt im Portfolio.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29" name="Google Shape;829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83"/>
          <p:cNvSpPr txBox="1"/>
          <p:nvPr>
            <p:ph idx="8" type="ctrTitle"/>
          </p:nvPr>
        </p:nvSpPr>
        <p:spPr>
          <a:xfrm>
            <a:off x="1467500" y="-61200"/>
            <a:ext cx="65802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Дерево метрик</a:t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35" name="Google Shape;835;p83"/>
          <p:cNvPicPr preferRelativeResize="0"/>
          <p:nvPr/>
        </p:nvPicPr>
        <p:blipFill rotWithShape="1">
          <a:blip r:embed="rId3">
            <a:alphaModFix/>
          </a:blip>
          <a:srcRect b="4653" l="5090" r="1678" t="0"/>
          <a:stretch/>
        </p:blipFill>
        <p:spPr>
          <a:xfrm>
            <a:off x="451775" y="589300"/>
            <a:ext cx="8240427" cy="31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83"/>
          <p:cNvSpPr txBox="1"/>
          <p:nvPr/>
        </p:nvSpPr>
        <p:spPr>
          <a:xfrm>
            <a:off x="978700" y="3958550"/>
            <a:ext cx="750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Der Metric-Tree visualisiert die Struktur der Gewinnbildung, wobei der durchschnittliche Warenkorbwert (AOV) der zentrale Hebel für die Gesamtrentabilität des Unternehmens ist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7" name="Google Shape;837;p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Google Shape;84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6775" y="571850"/>
            <a:ext cx="2056125" cy="20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84"/>
          <p:cNvSpPr txBox="1"/>
          <p:nvPr/>
        </p:nvSpPr>
        <p:spPr>
          <a:xfrm>
            <a:off x="144175" y="341075"/>
            <a:ext cx="6402600" cy="4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Hypothese: AOV-Wachstum durch Upsell-Einführung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Formulierung: Die Einführung einer Checkbox „Persönliches Mentoring“ für 95 € auf der Checkout-Seite für Digital Marketing soll den AOV um 8 % steigern, ohne die Kaufkonversion zu beeinträchtigen.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Zielgruppe: Gesamter Traffic für das Produkt Digital Marketing.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Test-Typ: Klassischer A/B-Test (50/50 Verteilung).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Erwarteter Effekt: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AOV-Anstieg: +8 % oder mehr in der Testgruppe B.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C1-Stabilität: Konversion bleibt stabil (Abweichung max. ±0,1 %).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Wirtschaftlicher Profit: Mehrumsatz deckt die Mentoring-Kosten.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Signifikanz: P-Value &gt; 95 %.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44" name="Google Shape;844;p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" name="Google Shape;84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6775" y="571850"/>
            <a:ext cx="2056125" cy="20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85"/>
          <p:cNvSpPr txBox="1"/>
          <p:nvPr/>
        </p:nvSpPr>
        <p:spPr>
          <a:xfrm>
            <a:off x="244675" y="349550"/>
            <a:ext cx="65271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Testbedingungen: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Gruppe A (Kontrollgruppe): Standard-Checkout-Seite.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Gruppe B (Testgruppe): Checkout-Seite mit Mentoring-Option (+95 €).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Dauer: 14 Tage (Zeitraum für statistisch signifikante Daten).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Erfolgskriterien: Die Hypothese ist bestätigt, wenn der AOV um mindestens 8 % steigt und die Hauptkonversion (C1) stabil bleibt. Das beweist, dass das Zusatzangebot keinen negativen Einfluss auf die Kaufentscheidung hat.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51" name="Google Shape;851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86"/>
          <p:cNvSpPr txBox="1"/>
          <p:nvPr>
            <p:ph type="ctrTitle"/>
          </p:nvPr>
        </p:nvSpPr>
        <p:spPr>
          <a:xfrm>
            <a:off x="2422500" y="1457300"/>
            <a:ext cx="4299000" cy="12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Vielen Dank für Ihre Aufmerksamkeit!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57" name="Google Shape;857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ch Startup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88D3CE"/>
      </a:accent1>
      <a:accent2>
        <a:srgbClr val="423864"/>
      </a:accent2>
      <a:accent3>
        <a:srgbClr val="78909C"/>
      </a:accent3>
      <a:accent4>
        <a:srgbClr val="88D3CE"/>
      </a:accent4>
      <a:accent5>
        <a:srgbClr val="0097A7"/>
      </a:accent5>
      <a:accent6>
        <a:srgbClr val="423864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